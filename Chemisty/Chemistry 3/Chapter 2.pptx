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2" r:id="rId1"/>
  </p:sldMasterIdLst>
  <p:sldIdLst>
    <p:sldId id="258" r:id="rId2"/>
    <p:sldId id="259" r:id="rId3"/>
    <p:sldId id="271" r:id="rId4"/>
    <p:sldId id="260" r:id="rId5"/>
    <p:sldId id="261" r:id="rId6"/>
    <p:sldId id="262" r:id="rId7"/>
    <p:sldId id="264" r:id="rId8"/>
    <p:sldId id="266" r:id="rId9"/>
    <p:sldId id="267" r:id="rId10"/>
    <p:sldId id="268" r:id="rId11"/>
    <p:sldId id="269" r:id="rId12"/>
    <p:sldId id="276" r:id="rId13"/>
    <p:sldId id="270" r:id="rId14"/>
    <p:sldId id="274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73" r:id="rId32"/>
    <p:sldId id="272" r:id="rId33"/>
    <p:sldId id="275" r:id="rId34"/>
    <p:sldId id="294" r:id="rId35"/>
    <p:sldId id="295" r:id="rId36"/>
    <p:sldId id="296" r:id="rId37"/>
    <p:sldId id="297" r:id="rId38"/>
    <p:sldId id="299" r:id="rId39"/>
    <p:sldId id="300" r:id="rId40"/>
    <p:sldId id="293" r:id="rId41"/>
    <p:sldId id="301" r:id="rId42"/>
    <p:sldId id="302" r:id="rId43"/>
    <p:sldId id="303" r:id="rId44"/>
    <p:sldId id="304" r:id="rId45"/>
    <p:sldId id="305" r:id="rId46"/>
    <p:sldId id="308" r:id="rId47"/>
    <p:sldId id="306" r:id="rId48"/>
    <p:sldId id="307" r:id="rId49"/>
    <p:sldId id="309" r:id="rId50"/>
    <p:sldId id="311" r:id="rId51"/>
    <p:sldId id="310" r:id="rId52"/>
    <p:sldId id="312" r:id="rId53"/>
    <p:sldId id="313" r:id="rId54"/>
    <p:sldId id="315" r:id="rId55"/>
    <p:sldId id="314" r:id="rId56"/>
    <p:sldId id="316" r:id="rId57"/>
    <p:sldId id="317" r:id="rId58"/>
    <p:sldId id="318" r:id="rId59"/>
    <p:sldId id="319" r:id="rId60"/>
    <p:sldId id="320" r:id="rId61"/>
    <p:sldId id="325" r:id="rId62"/>
    <p:sldId id="326" r:id="rId63"/>
    <p:sldId id="329" r:id="rId64"/>
    <p:sldId id="331" r:id="rId65"/>
    <p:sldId id="327" r:id="rId66"/>
    <p:sldId id="332" r:id="rId67"/>
    <p:sldId id="333" r:id="rId68"/>
    <p:sldId id="321" r:id="rId69"/>
    <p:sldId id="322" r:id="rId70"/>
    <p:sldId id="323" r:id="rId71"/>
    <p:sldId id="324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70A8FB1-9DAA-43F9-97B4-F2FB1824EB38}" type="datetimeFigureOut">
              <a:rPr lang="fr-FR" smtClean="0">
                <a:solidFill>
                  <a:prstClr val="white">
                    <a:alpha val="60000"/>
                  </a:prstClr>
                </a:solidFill>
              </a:rPr>
              <a:pPr/>
              <a:t>09/11/2024</a:t>
            </a:fld>
            <a:endParaRPr lang="fr-FR">
              <a:solidFill>
                <a:prstClr val="white">
                  <a:alpha val="6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>
              <a:solidFill>
                <a:prstClr val="white">
                  <a:alpha val="60000"/>
                </a:prst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7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91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34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1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17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436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62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101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85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26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5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75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51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117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918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5952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B3116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6198C-1B72-4A78-82FC-F077566D09C1}" type="slidenum">
              <a:rPr lang="fr-FR" smtClean="0">
                <a:solidFill>
                  <a:prstClr val="white"/>
                </a:solidFill>
              </a:rPr>
              <a:pPr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3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pPr defTabSz="914400"/>
            <a:fld id="{870A8FB1-9DAA-43F9-97B4-F2FB1824EB38}" type="datetimeFigureOut">
              <a:rPr lang="fr-FR" smtClean="0">
                <a:solidFill>
                  <a:srgbClr val="B31166"/>
                </a:solidFill>
              </a:rPr>
              <a:pPr defTabSz="914400"/>
              <a:t>09/11/2024</a:t>
            </a:fld>
            <a:endParaRPr lang="fr-FR">
              <a:solidFill>
                <a:srgbClr val="B3116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pPr defTabSz="914400"/>
            <a:endParaRPr lang="fr-FR">
              <a:solidFill>
                <a:srgbClr val="B31166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defTabSz="914400"/>
            <a:fld id="{1406198C-1B72-4A78-82FC-F077566D09C1}" type="slidenum">
              <a:rPr lang="fr-FR" smtClean="0">
                <a:solidFill>
                  <a:prstClr val="white"/>
                </a:solidFill>
              </a:rPr>
              <a:pPr defTabSz="914400"/>
              <a:t>‹#›</a:t>
            </a:fld>
            <a:endParaRPr lang="fr-FR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545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2480" y="1154163"/>
            <a:ext cx="8825658" cy="1110192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Acides et Bases </a:t>
            </a:r>
            <a:endParaRPr lang="fr-FR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66725" y="485775"/>
          <a:ext cx="8761413" cy="627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61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78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Chapitre II</a:t>
                      </a:r>
                      <a:endParaRPr lang="fr-FR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0281" y="2390393"/>
            <a:ext cx="469872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  <a:p>
            <a:r>
              <a:rPr lang="fr-F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1.1. Définition</a:t>
            </a:r>
          </a:p>
          <a:p>
            <a:r>
              <a:rPr lang="fr-F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1.2. Détermination du pH</a:t>
            </a:r>
          </a:p>
          <a:p>
            <a:pPr lvl="0"/>
            <a:endParaRPr lang="fr-FR" dirty="0">
              <a:solidFill>
                <a:prstClr val="white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70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39 2.96296E-6 L -0.1621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3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08653" y="68441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00" y="2001352"/>
            <a:ext cx="11691257" cy="4553338"/>
          </a:xfrm>
        </p:spPr>
        <p:txBody>
          <a:bodyPr/>
          <a:lstStyle/>
          <a:p>
            <a:pPr marL="0" lvl="0" indent="0">
              <a:spcBef>
                <a:spcPts val="0"/>
              </a:spcBef>
              <a:buClrTx/>
              <a:buSzTx/>
              <a:buNone/>
            </a:pPr>
            <a:r>
              <a:rPr lang="fr-FR" sz="48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fr-FR" sz="48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  <a:p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quantité </a:t>
            </a:r>
            <a:r>
              <a:rPr lang="fr-FR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d’ions H</a:t>
            </a:r>
            <a:r>
              <a:rPr lang="fr-FR" sz="4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4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présents dans une solution aqueuse qui définit le caractère </a:t>
            </a:r>
            <a:r>
              <a:rPr lang="fr-FR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acide d’une solution </a:t>
            </a:r>
            <a:r>
              <a:rPr lang="fr-FR" sz="4800" dirty="0">
                <a:solidFill>
                  <a:srgbClr val="C00000"/>
                </a:solidFill>
                <a:latin typeface="Times New Roman" panose="02020603050405020304" pitchFamily="18" charset="0"/>
              </a:rPr>
              <a:t>(pH = potentiel en ion H</a:t>
            </a:r>
            <a:r>
              <a:rPr lang="fr-FR" sz="4800" baseline="300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+</a:t>
            </a:r>
            <a:r>
              <a:rPr lang="fr-FR" sz="48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fr-FR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7469" y="1391383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66609" y="5248909"/>
            <a:ext cx="4828499" cy="13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4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08653" y="68441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23" y="2304662"/>
            <a:ext cx="11691257" cy="4553338"/>
          </a:xfrm>
        </p:spPr>
        <p:txBody>
          <a:bodyPr>
            <a:normAutofit/>
          </a:bodyPr>
          <a:lstStyle/>
          <a:p>
            <a:r>
              <a:rPr lang="fr-FR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fr-FR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concentration en </a:t>
            </a:r>
            <a:r>
              <a:rPr lang="fr-FR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ions </a:t>
            </a:r>
            <a:r>
              <a:rPr lang="fr-FR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FR" sz="60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60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</a:t>
            </a:r>
            <a:r>
              <a:rPr lang="fr-FR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importante</a:t>
            </a:r>
            <a:r>
              <a:rPr lang="fr-FR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plus la solution est dite </a:t>
            </a:r>
            <a:r>
              <a:rPr lang="fr-FR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acide</a:t>
            </a:r>
            <a:r>
              <a:rPr lang="fr-FR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7469" y="1391383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</p:spTree>
    <p:extLst>
      <p:ext uri="{BB962C8B-B14F-4D97-AF65-F5344CB8AC3E}">
        <p14:creationId xmlns:p14="http://schemas.microsoft.com/office/powerpoint/2010/main" val="272747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7172" y="513874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942329" y="829643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pic>
        <p:nvPicPr>
          <p:cNvPr id="2" name="Content Placeholder 1"/>
          <p:cNvPicPr>
            <a:picLocks noGrp="1"/>
          </p:cNvPicPr>
          <p:nvPr>
            <p:ph idx="1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049877" y="1536607"/>
            <a:ext cx="7992000" cy="41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8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37597" y="68441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495" y="2045448"/>
            <a:ext cx="8825659" cy="3416300"/>
          </a:xfrm>
        </p:spPr>
        <p:txBody>
          <a:bodyPr/>
          <a:lstStyle/>
          <a:p>
            <a:pPr marL="0" indent="0">
              <a:buNone/>
            </a:pPr>
            <a:endParaRPr lang="fr-FR" sz="3600" b="1" i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3600" b="1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005596" y="1247004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88348" y="1391383"/>
            <a:ext cx="7812000" cy="3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7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565353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867573" y="881798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2" name="Rectangle 1"/>
          <p:cNvSpPr/>
          <p:nvPr/>
        </p:nvSpPr>
        <p:spPr>
          <a:xfrm>
            <a:off x="216309" y="2426898"/>
            <a:ext cx="115037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4800" dirty="0" smtClean="0">
                <a:latin typeface="Times New Roman" panose="02020603050405020304" pitchFamily="18" charset="0"/>
              </a:rPr>
              <a:t>Pour le calcul du pH des solutions (électrolytes) acide ou basique, il est important de poser un certain nombre d’équations et de faire des approximations de façon à pouvoir résoudre les différents problèmes.</a:t>
            </a:r>
            <a:endParaRPr lang="fr-FR" sz="4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None/>
            </a:pPr>
            <a:r>
              <a:rPr lang="fr-FR" sz="3600" b="1" i="1" u="sng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5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014222" y="986227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None/>
            </a:pPr>
            <a:r>
              <a:rPr lang="fr-FR" sz="3600" b="1" i="1" u="sng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2158989" y="2456795"/>
            <a:ext cx="8494633" cy="440120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fr-FR" sz="2800" dirty="0">
                <a:latin typeface="Times New Roman" panose="02020603050405020304" pitchFamily="18" charset="0"/>
              </a:rPr>
              <a:t>Etablir les équations </a:t>
            </a:r>
            <a:r>
              <a:rPr lang="fr-FR" sz="2800" dirty="0" smtClean="0">
                <a:latin typeface="Times New Roman" panose="02020603050405020304" pitchFamily="18" charset="0"/>
              </a:rPr>
              <a:t>chimiques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eriod"/>
            </a:pPr>
            <a:r>
              <a:rPr lang="fr-FR" sz="2800" dirty="0">
                <a:latin typeface="Times New Roman" panose="02020603050405020304" pitchFamily="18" charset="0"/>
              </a:rPr>
              <a:t>Dénombrer les espèces </a:t>
            </a:r>
            <a:r>
              <a:rPr lang="fr-FR" sz="2800" dirty="0" smtClean="0">
                <a:latin typeface="Times New Roman" panose="02020603050405020304" pitchFamily="18" charset="0"/>
              </a:rPr>
              <a:t>présentes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eriod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Ecrire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l’équation de la loi d’action de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masse « K</a:t>
            </a:r>
            <a:r>
              <a:rPr lang="fr-FR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K</a:t>
            </a:r>
            <a:r>
              <a:rPr lang="fr-FR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Ecrire l’équation 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produit ionique « Ke »;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Ecrire le bilan de </a:t>
            </a:r>
            <a:r>
              <a:rPr lang="fr-FR" sz="2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concervation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masse  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 B.M »;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Ecrire le bilan de</a:t>
            </a:r>
            <a:r>
              <a:rPr lang="fr-FR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l’électroneutralité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 B.E »;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Appliquer les approximations;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Ecrire [H</a:t>
            </a:r>
            <a:r>
              <a:rPr lang="fr-FR" sz="2800" baseline="-25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800" baseline="30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en fonction de C</a:t>
            </a:r>
            <a:r>
              <a:rPr lang="fr-FR" sz="2800" baseline="-25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Déduire l’expression de pH;</a:t>
            </a:r>
          </a:p>
          <a:p>
            <a:pPr marL="342900" lvl="0" indent="-342900">
              <a:buFontTx/>
              <a:buAutoNum type="arabicPeriod"/>
            </a:pP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Vérifier les approximations.  </a:t>
            </a:r>
          </a:p>
        </p:txBody>
      </p:sp>
    </p:spTree>
    <p:extLst>
      <p:ext uri="{BB962C8B-B14F-4D97-AF65-F5344CB8AC3E}">
        <p14:creationId xmlns:p14="http://schemas.microsoft.com/office/powerpoint/2010/main" val="10088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-0.00338 -0.198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-9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014222" y="986227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None/>
            </a:pPr>
            <a:r>
              <a:rPr lang="fr-FR" sz="3600" b="1" i="1" u="sng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154" y="2260121"/>
            <a:ext cx="6142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Etablir les équations 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chimiques</a:t>
            </a:r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96" y="3255666"/>
            <a:ext cx="9705727" cy="684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0" y="4529560"/>
            <a:ext cx="12192000" cy="136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9154" y="554086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36248" y="810602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154" y="2260121"/>
            <a:ext cx="6535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2. Dénombrer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les espèces présentes 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638" y="4280812"/>
            <a:ext cx="11023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latin typeface="Times New Roman" panose="02020603050405020304" pitchFamily="18" charset="0"/>
              </a:rPr>
              <a:t>Les </a:t>
            </a:r>
            <a:r>
              <a:rPr lang="fr-FR" sz="3200" dirty="0">
                <a:latin typeface="Times New Roman" panose="02020603050405020304" pitchFamily="18" charset="0"/>
              </a:rPr>
              <a:t>couples acido-basiques mis en jeu sont : AH/A</a:t>
            </a:r>
            <a:r>
              <a:rPr lang="fr-FR" sz="3200" baseline="30000" dirty="0">
                <a:latin typeface="Times New Roman" panose="02020603050405020304" pitchFamily="18" charset="0"/>
              </a:rPr>
              <a:t>-</a:t>
            </a:r>
            <a:r>
              <a:rPr lang="fr-FR" sz="3200" dirty="0">
                <a:latin typeface="Times New Roman" panose="02020603050405020304" pitchFamily="18" charset="0"/>
              </a:rPr>
              <a:t> et H</a:t>
            </a:r>
            <a:r>
              <a:rPr lang="fr-FR" sz="3200" baseline="-25000" dirty="0">
                <a:latin typeface="Times New Roman" panose="02020603050405020304" pitchFamily="18" charset="0"/>
              </a:rPr>
              <a:t>3</a:t>
            </a:r>
            <a:r>
              <a:rPr lang="fr-FR" sz="3200" dirty="0">
                <a:latin typeface="Times New Roman" panose="02020603050405020304" pitchFamily="18" charset="0"/>
              </a:rPr>
              <a:t>O</a:t>
            </a:r>
            <a:r>
              <a:rPr lang="fr-FR" sz="3200" baseline="30000" dirty="0">
                <a:latin typeface="Times New Roman" panose="02020603050405020304" pitchFamily="18" charset="0"/>
              </a:rPr>
              <a:t>+</a:t>
            </a:r>
            <a:r>
              <a:rPr lang="fr-FR" sz="3200" dirty="0">
                <a:latin typeface="Times New Roman" panose="02020603050405020304" pitchFamily="18" charset="0"/>
              </a:rPr>
              <a:t>/H</a:t>
            </a:r>
            <a:r>
              <a:rPr lang="fr-FR" sz="3200" baseline="-25000" dirty="0">
                <a:latin typeface="Times New Roman" panose="02020603050405020304" pitchFamily="18" charset="0"/>
              </a:rPr>
              <a:t>2</a:t>
            </a:r>
            <a:r>
              <a:rPr lang="fr-FR" sz="3200" dirty="0">
                <a:latin typeface="Times New Roman" panose="02020603050405020304" pitchFamily="18" charset="0"/>
              </a:rPr>
              <a:t>O.</a:t>
            </a:r>
            <a:endParaRPr lang="fr-FR" sz="3200" dirty="0"/>
          </a:p>
        </p:txBody>
      </p:sp>
      <p:sp>
        <p:nvSpPr>
          <p:cNvPr id="9" name="Rectangle 8"/>
          <p:cNvSpPr/>
          <p:nvPr/>
        </p:nvSpPr>
        <p:spPr>
          <a:xfrm>
            <a:off x="77638" y="5192901"/>
            <a:ext cx="119734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latin typeface="Times New Roman" panose="02020603050405020304" pitchFamily="18" charset="0"/>
              </a:rPr>
              <a:t>Un </a:t>
            </a:r>
            <a:r>
              <a:rPr lang="fr-FR" sz="3200" dirty="0">
                <a:latin typeface="Times New Roman" panose="02020603050405020304" pitchFamily="18" charset="0"/>
              </a:rPr>
              <a:t>inventaire rapide indique que 5 espèces sont présentes en solution il s’agit de </a:t>
            </a:r>
            <a:r>
              <a:rPr lang="fr-FR" sz="3200" dirty="0" smtClean="0">
                <a:latin typeface="Times New Roman" panose="02020603050405020304" pitchFamily="18" charset="0"/>
              </a:rPr>
              <a:t>:  </a:t>
            </a:r>
            <a:r>
              <a:rPr lang="pt-BR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AH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A</a:t>
            </a:r>
            <a:r>
              <a:rPr lang="pt-BR" sz="32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-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, H</a:t>
            </a:r>
            <a:r>
              <a:rPr lang="pt-BR" sz="32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O, OH</a:t>
            </a:r>
            <a:r>
              <a:rPr lang="pt-BR" sz="32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- 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et H</a:t>
            </a:r>
            <a:r>
              <a:rPr lang="pt-BR" sz="3200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O</a:t>
            </a:r>
            <a:r>
              <a:rPr lang="pt-BR" sz="32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+</a:t>
            </a:r>
            <a:r>
              <a:rPr lang="pt-BR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</a:t>
            </a:r>
            <a:endParaRPr lang="fr-FR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517" y="3006918"/>
            <a:ext cx="4508373" cy="54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795" y="3643865"/>
            <a:ext cx="5035816" cy="54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87709" y="1431074"/>
            <a:ext cx="355332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6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014222" y="986227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52" y="2287672"/>
            <a:ext cx="11283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3. Ecrire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l’équation de la loi d’action de masse « Ka, Kb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» 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80" y="3525474"/>
            <a:ext cx="4508373" cy="54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41" y="5535496"/>
            <a:ext cx="5035816" cy="540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47366" y="2759220"/>
            <a:ext cx="37641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2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fr-FR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constante d’acidité) :</a:t>
            </a:r>
            <a:endParaRPr lang="fr-FR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103435" y="5492778"/>
            <a:ext cx="3527999" cy="50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Rectangle 13"/>
          <p:cNvSpPr/>
          <p:nvPr/>
        </p:nvSpPr>
        <p:spPr>
          <a:xfrm>
            <a:off x="58652" y="4658468"/>
            <a:ext cx="84188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4. Ecrire </a:t>
            </a:r>
            <a:r>
              <a:rPr lang="fr-F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l’équation du produit ionique « Ke </a:t>
            </a:r>
            <a:r>
              <a:rPr lang="fr-F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» :</a:t>
            </a:r>
            <a:endParaRPr lang="fr-F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163279" y="2959370"/>
            <a:ext cx="340831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172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4014222" y="986227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398" y="2462741"/>
            <a:ext cx="114086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fr-F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 L’équation </a:t>
            </a:r>
            <a:r>
              <a:rPr lang="fr-F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d’électroneutralité, appliquée à la </a:t>
            </a:r>
            <a:r>
              <a:rPr lang="fr-F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solution « BE » </a:t>
            </a:r>
            <a:r>
              <a:rPr lang="fr-F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</a:t>
            </a:r>
            <a:endParaRPr lang="fr-FR" sz="3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999162" y="3395169"/>
            <a:ext cx="4788001" cy="68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252398" y="4662587"/>
            <a:ext cx="102815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6. Ecrire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 bilan de </a:t>
            </a:r>
            <a:r>
              <a:rPr lang="fr-FR" sz="3200" b="1" i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 concertation de la 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matière «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B.M »</a:t>
            </a:r>
            <a:endParaRPr lang="fr-F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285979" y="5412794"/>
            <a:ext cx="4214365" cy="1116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490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827964" y="1422133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59690" y="4073268"/>
            <a:ext cx="8286243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/>
              <a:t>Dans ce cas on peut négliger  les ions </a:t>
            </a:r>
            <a:r>
              <a:rPr lang="fr-FR" b="1" dirty="0" smtClean="0"/>
              <a:t>OH</a:t>
            </a:r>
            <a:r>
              <a:rPr lang="fr-FR" b="1" baseline="20000" dirty="0"/>
              <a:t>-</a:t>
            </a:r>
            <a:r>
              <a:rPr lang="fr-FR" b="1" dirty="0" smtClean="0"/>
              <a:t> </a:t>
            </a:r>
            <a:r>
              <a:rPr lang="fr-FR" b="1" dirty="0"/>
              <a:t>provenant de l’autoprotolyse </a:t>
            </a:r>
            <a:endParaRPr lang="fr-FR" b="1" dirty="0" smtClean="0"/>
          </a:p>
          <a:p>
            <a:pPr algn="ctr"/>
            <a:r>
              <a:rPr lang="fr-FR" b="1" dirty="0" smtClean="0"/>
              <a:t>de </a:t>
            </a:r>
            <a:r>
              <a:rPr lang="fr-FR" b="1" dirty="0"/>
              <a:t>l’eau devant  les ions H3O</a:t>
            </a:r>
            <a:r>
              <a:rPr lang="fr-FR" b="1" baseline="20000" dirty="0"/>
              <a:t>+</a:t>
            </a:r>
            <a:r>
              <a:rPr lang="fr-FR" b="1" dirty="0"/>
              <a:t> . </a:t>
            </a:r>
            <a:endParaRPr lang="fr-FR" b="1" dirty="0" smtClean="0"/>
          </a:p>
          <a:p>
            <a:r>
              <a:rPr lang="fr-FR" b="1" dirty="0" smtClean="0"/>
              <a:t> </a:t>
            </a:r>
            <a:r>
              <a:rPr lang="fr-FR" b="1" dirty="0"/>
              <a:t>On a donc: [H3O</a:t>
            </a:r>
            <a:r>
              <a:rPr lang="fr-FR" b="1" baseline="20000" dirty="0"/>
              <a:t>+</a:t>
            </a:r>
            <a:r>
              <a:rPr lang="fr-FR" b="1" dirty="0"/>
              <a:t>] = C</a:t>
            </a:r>
            <a:r>
              <a:rPr lang="fr-FR" b="1" baseline="-25000" dirty="0"/>
              <a:t>o</a:t>
            </a:r>
            <a:r>
              <a:rPr lang="fr-FR" b="1" dirty="0"/>
              <a:t>  soit : pH = - log [H3O</a:t>
            </a:r>
            <a:r>
              <a:rPr lang="fr-FR" b="1" baseline="20000" dirty="0"/>
              <a:t>+</a:t>
            </a:r>
            <a:r>
              <a:rPr lang="fr-FR" b="1" dirty="0"/>
              <a:t>] = - log C</a:t>
            </a:r>
            <a:r>
              <a:rPr lang="fr-FR" b="1" baseline="-25000" dirty="0"/>
              <a:t>o</a:t>
            </a:r>
            <a:r>
              <a:rPr lang="fr-FR" b="1" dirty="0"/>
              <a:t> </a:t>
            </a:r>
            <a:endParaRPr lang="ar-AE" b="1" dirty="0"/>
          </a:p>
        </p:txBody>
      </p:sp>
      <p:sp>
        <p:nvSpPr>
          <p:cNvPr id="7" name="Rectangle 6"/>
          <p:cNvSpPr/>
          <p:nvPr/>
        </p:nvSpPr>
        <p:spPr>
          <a:xfrm>
            <a:off x="4014222" y="986227"/>
            <a:ext cx="27655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fr-FR" sz="3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Notion de 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148" y="2913017"/>
            <a:ext cx="689964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/>
              <a:t>On utilise l'approximation du milieu acide: [H3O+]  &gt;&gt;  [HO-] </a:t>
            </a:r>
            <a:endParaRPr lang="ar-AE" b="1" dirty="0"/>
          </a:p>
        </p:txBody>
      </p:sp>
    </p:spTree>
    <p:extLst>
      <p:ext uri="{BB962C8B-B14F-4D97-AF65-F5344CB8AC3E}">
        <p14:creationId xmlns:p14="http://schemas.microsoft.com/office/powerpoint/2010/main" val="225097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3" y="855184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5043" y="2227958"/>
            <a:ext cx="60157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Appliquer les approximations:</a:t>
            </a:r>
            <a:endParaRPr lang="fr-FR" sz="3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87" y="2013760"/>
            <a:ext cx="9029227" cy="43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96728" y="4252578"/>
            <a:ext cx="9703958" cy="1116000"/>
            <a:chOff x="464840" y="3612415"/>
            <a:chExt cx="9703958" cy="111600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>
              <a:lum contrast="4000"/>
            </a:blip>
            <a:stretch>
              <a:fillRect/>
            </a:stretch>
          </p:blipFill>
          <p:spPr>
            <a:xfrm>
              <a:off x="7004443" y="3612415"/>
              <a:ext cx="3164355" cy="11160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840" y="3781031"/>
              <a:ext cx="4788001" cy="684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1" name="Right Arrow 10"/>
            <p:cNvSpPr/>
            <p:nvPr/>
          </p:nvSpPr>
          <p:spPr>
            <a:xfrm>
              <a:off x="5380797" y="3999415"/>
              <a:ext cx="1248603" cy="342000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3" y="855184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9895" y="2190988"/>
            <a:ext cx="1071107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Appliquer les approximations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: </a:t>
            </a:r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la première approximation</a:t>
            </a:r>
          </a:p>
          <a:p>
            <a:pPr algn="ctr"/>
            <a:r>
              <a:rPr lang="fr-FR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B.E</a:t>
            </a:r>
            <a:r>
              <a:rPr lang="fr-FR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fr-FR" sz="32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C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0" y="3425920"/>
            <a:ext cx="11482485" cy="93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C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0" y="5223743"/>
            <a:ext cx="12096001" cy="756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821" y="6021141"/>
            <a:ext cx="4788001" cy="68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03733" y="1477398"/>
            <a:ext cx="3553321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0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330" y="1156758"/>
            <a:ext cx="8825658" cy="1110192"/>
          </a:xfrm>
        </p:spPr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Acides et Bases </a:t>
            </a:r>
            <a:endParaRPr lang="fr-FR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466725" y="485775"/>
          <a:ext cx="8761413" cy="6278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61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780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2800" dirty="0">
                          <a:effectLst/>
                        </a:rPr>
                        <a:t>Chapitre II</a:t>
                      </a:r>
                      <a:endParaRPr lang="fr-FR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232225" y="2397349"/>
            <a:ext cx="6096000" cy="320087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000" b="1" u="sng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Mélanges d’électrolytes de même nature</a:t>
            </a:r>
          </a:p>
          <a:p>
            <a:endParaRPr lang="fr-FR" sz="2000" b="1" u="sng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pH des mélanges d’électrolytes forts :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1.1. cas des mélanges d’acides forts  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1.2. cas des mélanges de bases fortes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 des mélanges d’électrolytes fort et faible :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2.1.  cas d’un mélange d’un acide fort et d’un acide faible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2.2.  cas d’un mélange d’une base forte et d’une base faible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pH des mélanges d’électrolytes faibles: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3.1. cas des mélanges d’acides faibles </a:t>
            </a:r>
          </a:p>
          <a:p>
            <a:r>
              <a:rPr lang="fr-FR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3.2. cas des mélanges de bases faibles </a:t>
            </a:r>
          </a:p>
        </p:txBody>
      </p:sp>
    </p:spTree>
    <p:extLst>
      <p:ext uri="{BB962C8B-B14F-4D97-AF65-F5344CB8AC3E}">
        <p14:creationId xmlns:p14="http://schemas.microsoft.com/office/powerpoint/2010/main" val="111292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39 2.96296E-6 L -0.1621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3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95" y="1682416"/>
            <a:ext cx="12001745" cy="42840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77681" y="130566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d’acides forts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10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48" y="1178462"/>
            <a:ext cx="10683924" cy="54720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41729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d’acides forts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76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d’acides forts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2" y="1482048"/>
            <a:ext cx="12096443" cy="464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2286000"/>
            <a:ext cx="3545457" cy="750499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ounded Rectangle 4"/>
          <p:cNvSpPr/>
          <p:nvPr/>
        </p:nvSpPr>
        <p:spPr>
          <a:xfrm>
            <a:off x="69011" y="5555411"/>
            <a:ext cx="5615797" cy="55209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18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de bases fortes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38" y="1344842"/>
            <a:ext cx="9629366" cy="52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25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de bases fortes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2" y="1927174"/>
            <a:ext cx="11121100" cy="3564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122762" y="4572000"/>
            <a:ext cx="4942936" cy="63835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13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de bases fortes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253" y="2077688"/>
            <a:ext cx="13197600" cy="3240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9780" y="3864633"/>
            <a:ext cx="6340415" cy="62972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29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d’un acide fort et d’un acide faible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3425"/>
            <a:ext cx="12192000" cy="21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4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d’un acide fort et d’un acide faible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68" y="1303773"/>
            <a:ext cx="9853093" cy="53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8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d’un acide fort et d’un acide faible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3011"/>
            <a:ext cx="12192000" cy="335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7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 acides faibles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48" y="1568666"/>
            <a:ext cx="9504908" cy="43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84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d’ acides faibles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5" y="1059974"/>
            <a:ext cx="10953958" cy="565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75185" y="6038490"/>
            <a:ext cx="5365630" cy="64698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07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</a:t>
            </a:r>
            <a:r>
              <a:rPr lang="fr-FR" sz="14400" b="1" i="1" u="sng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de bases faibles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761" y="1411435"/>
            <a:ext cx="9743879" cy="49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7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</a:t>
            </a:r>
            <a:r>
              <a:rPr lang="fr-FR" sz="14400" b="1" i="1" u="sng" dirty="0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Mélange de bases faibles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66" y="1014216"/>
            <a:ext cx="10788203" cy="5724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38755" y="5840083"/>
            <a:ext cx="5831456" cy="81950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1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98" y="1853248"/>
            <a:ext cx="11044482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4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2000011"/>
            <a:ext cx="10417852" cy="41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7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3" y="855184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5043" y="2227958"/>
            <a:ext cx="60157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. </a:t>
            </a:r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Appliquer les approximations:</a:t>
            </a:r>
            <a:endParaRPr lang="fr-FR" sz="3200" b="1" u="sng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92" y="1386743"/>
            <a:ext cx="8208000" cy="405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415151" y="1542301"/>
            <a:ext cx="3266272" cy="64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902366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0316" y="2247128"/>
            <a:ext cx="1207168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32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5. Appliquer les approximations: </a:t>
            </a:r>
            <a:r>
              <a:rPr lang="fr-FR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la première approximation</a:t>
            </a:r>
          </a:p>
          <a:p>
            <a:pPr lvl="0" algn="ctr"/>
            <a:r>
              <a:rPr lang="fr-FR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B.M</a:t>
            </a:r>
            <a:r>
              <a:rPr lang="fr-FR" sz="3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163" y="3969143"/>
            <a:ext cx="7974248" cy="27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2.96296E-6 L -3.75E-6 -0.2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5555" y="5722256"/>
            <a:ext cx="4214365" cy="111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415151" y="1542301"/>
            <a:ext cx="3266272" cy="6480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4841" y="679779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Equilibre acido-basique :</a:t>
            </a:r>
            <a:br>
              <a:rPr lang="fr-FR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827964" y="902366"/>
            <a:ext cx="8825659" cy="699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36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solutions</a:t>
            </a: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689" y="2387095"/>
            <a:ext cx="4508373" cy="54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967" y="3028774"/>
            <a:ext cx="5035816" cy="54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5555" y="5109026"/>
            <a:ext cx="4788001" cy="684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ctangle 1"/>
          <p:cNvSpPr/>
          <p:nvPr/>
        </p:nvSpPr>
        <p:spPr>
          <a:xfrm>
            <a:off x="313907" y="5121784"/>
            <a:ext cx="86914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BE:</a:t>
            </a:r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311675" y="5827412"/>
            <a:ext cx="10855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u="sng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B.M:</a:t>
            </a:r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311675" y="3873043"/>
            <a:ext cx="11480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Ka </a:t>
            </a:r>
            <a:r>
              <a:rPr lang="fr-FR" sz="3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fr-FR" dirty="0"/>
          </a:p>
        </p:txBody>
      </p:sp>
      <p:grpSp>
        <p:nvGrpSpPr>
          <p:cNvPr id="27" name="Group 26"/>
          <p:cNvGrpSpPr/>
          <p:nvPr/>
        </p:nvGrpSpPr>
        <p:grpSpPr>
          <a:xfrm>
            <a:off x="1495555" y="3529083"/>
            <a:ext cx="3512418" cy="1107996"/>
            <a:chOff x="1495555" y="3529083"/>
            <a:chExt cx="3512418" cy="110799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5555" y="3781644"/>
              <a:ext cx="2314898" cy="63826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651469" y="3529083"/>
              <a:ext cx="554960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6600" dirty="0" smtClean="0"/>
                <a:t>/</a:t>
              </a:r>
              <a:endParaRPr lang="fr-FR" sz="6600" dirty="0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31551" y="3875841"/>
              <a:ext cx="876422" cy="533474"/>
            </a:xfrm>
            <a:prstGeom prst="rect">
              <a:avLst/>
            </a:prstGeom>
          </p:spPr>
        </p:pic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7922" y="4471317"/>
            <a:ext cx="2743583" cy="65731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12293" y="4605861"/>
            <a:ext cx="1125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 </a:t>
            </a:r>
            <a:r>
              <a:rPr lang="fr-FR" sz="32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endParaRPr lang="fr-FR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6603781" y="3737845"/>
            <a:ext cx="0" cy="27423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727114" y="3642210"/>
            <a:ext cx="45480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Appliquer les </a:t>
            </a:r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approximations;</a:t>
            </a:r>
            <a:endParaRPr lang="fr-FR" dirty="0"/>
          </a:p>
        </p:txBody>
      </p:sp>
      <p:sp>
        <p:nvSpPr>
          <p:cNvPr id="30" name="Rectangle 29"/>
          <p:cNvSpPr/>
          <p:nvPr/>
        </p:nvSpPr>
        <p:spPr>
          <a:xfrm>
            <a:off x="6725728" y="410077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Ecrire [H</a:t>
            </a:r>
            <a:r>
              <a:rPr lang="fr-FR" sz="28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FR" sz="28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en fonction de C</a:t>
            </a:r>
            <a:r>
              <a:rPr lang="fr-FR" sz="28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Déduire l’expression de pH;</a:t>
            </a:r>
          </a:p>
          <a:p>
            <a:pPr lvl="0"/>
            <a:endParaRPr lang="fr-FR" sz="28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sz="28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Vérifier </a:t>
            </a:r>
            <a:r>
              <a:rPr lang="fr-FR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approximations</a:t>
            </a:r>
            <a:endParaRPr lang="fr-FR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366" y="5163026"/>
            <a:ext cx="2983384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0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i="1" dirty="0"/>
              <a:t>Diagramme de prédominance des espèces </a:t>
            </a:r>
            <a:endParaRPr lang="ar-AE" sz="2800" i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942" y="2312898"/>
            <a:ext cx="7893831" cy="20500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857" y="4362995"/>
            <a:ext cx="10075849" cy="173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2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833032"/>
            <a:ext cx="7792698" cy="168087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i="1" dirty="0" smtClean="0"/>
              <a:t>Diagramme de prédominance des espèces </a:t>
            </a:r>
            <a:endParaRPr lang="ar-AE" sz="280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07655"/>
            <a:ext cx="8925767" cy="33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6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307354" y="848499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i="1" dirty="0" smtClean="0"/>
              <a:t>Diagramme de prédominance des espèces </a:t>
            </a:r>
            <a:endParaRPr lang="ar-AE" sz="28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446137" y="1555463"/>
            <a:ext cx="5480988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cs typeface="+mj-cs"/>
              </a:rPr>
              <a:t> Application à la prévision des réactions : </a:t>
            </a:r>
          </a:p>
          <a:p>
            <a:r>
              <a:rPr lang="fr-FR" b="1" dirty="0" smtClean="0">
                <a:solidFill>
                  <a:srgbClr val="FF0000"/>
                </a:solidFill>
                <a:cs typeface="+mj-cs"/>
              </a:rPr>
              <a:t>			</a:t>
            </a:r>
          </a:p>
          <a:p>
            <a:r>
              <a:rPr lang="fr-FR" b="1" dirty="0">
                <a:solidFill>
                  <a:srgbClr val="FF0000"/>
                </a:solidFill>
                <a:cs typeface="+mj-cs"/>
              </a:rPr>
              <a:t>	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		On </a:t>
            </a:r>
            <a:r>
              <a:rPr lang="fr-FR" b="1" dirty="0">
                <a:solidFill>
                  <a:srgbClr val="FF0000"/>
                </a:solidFill>
                <a:cs typeface="+mj-cs"/>
              </a:rPr>
              <a:t>considère la réaction suivante :</a:t>
            </a:r>
          </a:p>
          <a:p>
            <a:endParaRPr lang="ar-AE" b="1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76" y="2436656"/>
            <a:ext cx="6744786" cy="9097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18" y="3346419"/>
            <a:ext cx="7352918" cy="342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22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074272" y="289101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i="1" dirty="0" smtClean="0"/>
              <a:t>Diagramme de prédominance des espèces </a:t>
            </a:r>
            <a:endParaRPr lang="ar-AE" sz="28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6" y="820272"/>
            <a:ext cx="11031070" cy="30717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485" y="3879006"/>
            <a:ext cx="9852492" cy="297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138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587242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i="1" dirty="0" smtClean="0"/>
              <a:t>Diagramme de prédominance des espèces </a:t>
            </a:r>
            <a:endParaRPr lang="ar-AE" sz="28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90" y="2328862"/>
            <a:ext cx="10271002" cy="39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8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587242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i="1" dirty="0" smtClean="0"/>
              <a:t>Diagramme de prédominance des espèces </a:t>
            </a:r>
            <a:endParaRPr lang="ar-AE" sz="280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79" y="1711234"/>
            <a:ext cx="10990279" cy="472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96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538066" y="0"/>
            <a:ext cx="11068676" cy="69996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Détermination du pH de </a:t>
            </a:r>
            <a:r>
              <a:rPr lang="fr-FR" sz="14400" b="1" i="1" u="sng" dirty="0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 algn="ctr">
              <a:buClr>
                <a:srgbClr val="B31166"/>
              </a:buClr>
              <a:buNone/>
            </a:pPr>
            <a:r>
              <a:rPr lang="fr-FR" sz="14400" b="1" i="1" u="sng" dirty="0" smtClean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 </a:t>
            </a:r>
            <a:r>
              <a:rPr lang="fr-FR" sz="14400" b="1" i="1" u="sng" dirty="0">
                <a:solidFill>
                  <a:srgbClr val="E9943A">
                    <a:lumMod val="40000"/>
                    <a:lumOff val="6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des solutions salines </a:t>
            </a:r>
          </a:p>
          <a:p>
            <a:pPr marL="0" indent="0" algn="ctr">
              <a:buClr>
                <a:srgbClr val="B31166"/>
              </a:buClr>
              <a:buFont typeface="Wingdings 3" charset="2"/>
              <a:buNone/>
            </a:pPr>
            <a:endParaRPr lang="fr-FR" sz="2800" dirty="0">
              <a:solidFill>
                <a:srgbClr val="E9943A">
                  <a:lumMod val="40000"/>
                  <a:lumOff val="60000"/>
                </a:srgb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8066" y="2547257"/>
            <a:ext cx="11344772" cy="1015663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2000" b="1" i="1" dirty="0">
                <a:solidFill>
                  <a:srgbClr val="FF0000"/>
                </a:solidFill>
                <a:cs typeface="+mj-cs"/>
              </a:rPr>
              <a:t>Définition</a:t>
            </a:r>
            <a:r>
              <a:rPr lang="fr-FR" sz="2000" b="1" i="1" dirty="0">
                <a:cs typeface="+mj-cs"/>
              </a:rPr>
              <a:t>: Un sel est le produit de la réaction entre une base B et un acide AH en quantité</a:t>
            </a:r>
          </a:p>
          <a:p>
            <a:r>
              <a:rPr lang="fr-FR" sz="2000" b="1" i="1" dirty="0">
                <a:cs typeface="+mj-cs"/>
              </a:rPr>
              <a:t>équivalente. En solution aqueuse le sel BHA se dissocie en </a:t>
            </a:r>
            <a:r>
              <a:rPr lang="fr-FR" sz="2000" b="1" i="1" dirty="0" smtClean="0">
                <a:cs typeface="+mj-cs"/>
              </a:rPr>
              <a:t>BH+  et A-. Les </a:t>
            </a:r>
            <a:r>
              <a:rPr lang="fr-FR" sz="2000" b="1" i="1" dirty="0">
                <a:cs typeface="+mj-cs"/>
              </a:rPr>
              <a:t>propriétés </a:t>
            </a:r>
            <a:r>
              <a:rPr lang="fr-FR" sz="2000" b="1" i="1" dirty="0" err="1">
                <a:cs typeface="+mj-cs"/>
              </a:rPr>
              <a:t>acido</a:t>
            </a:r>
            <a:r>
              <a:rPr lang="fr-FR" sz="2000" b="1" i="1" dirty="0">
                <a:cs typeface="+mj-cs"/>
              </a:rPr>
              <a:t>-</a:t>
            </a:r>
          </a:p>
          <a:p>
            <a:r>
              <a:rPr lang="fr-FR" sz="2000" b="1" i="1" dirty="0">
                <a:cs typeface="+mj-cs"/>
              </a:rPr>
              <a:t>basiques de AH et B déterminent le pH de la solution.</a:t>
            </a:r>
            <a:endParaRPr lang="ar-AE" sz="2000" b="1" i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315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 smtClean="0"/>
              <a:t>Mélange d’un </a:t>
            </a:r>
            <a:r>
              <a:rPr lang="fr-FR" sz="2800" b="1" dirty="0"/>
              <a:t>acide fort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</a:t>
            </a:r>
            <a:endParaRPr lang="ar-AE" sz="2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79714" y="2168433"/>
            <a:ext cx="63546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cs typeface="+mj-cs"/>
              </a:rPr>
              <a:t>pH d’une solution d’un sel d’acide fort et de base forte</a:t>
            </a:r>
            <a:endParaRPr lang="ar-AE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274" y="3056709"/>
            <a:ext cx="8577989" cy="212006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i="1" dirty="0">
                <a:cs typeface="+mj-cs"/>
              </a:rPr>
              <a:t>On introduit dans un bêcher un volume VA, mesuré à la pipette, de solution</a:t>
            </a:r>
          </a:p>
          <a:p>
            <a:pPr>
              <a:lnSpc>
                <a:spcPct val="150000"/>
              </a:lnSpc>
            </a:pPr>
            <a:r>
              <a:rPr lang="fr-FR" b="1" i="1" dirty="0">
                <a:cs typeface="+mj-cs"/>
              </a:rPr>
              <a:t>d'acide chlorhydrique de concentration inconnue CA</a:t>
            </a:r>
          </a:p>
          <a:p>
            <a:pPr>
              <a:lnSpc>
                <a:spcPct val="150000"/>
              </a:lnSpc>
            </a:pPr>
            <a:r>
              <a:rPr lang="fr-FR" b="1" i="1" dirty="0">
                <a:cs typeface="+mj-cs"/>
              </a:rPr>
              <a:t>On introduit des volumes connus VB de solution de soude de concentration</a:t>
            </a:r>
          </a:p>
          <a:p>
            <a:pPr>
              <a:lnSpc>
                <a:spcPct val="150000"/>
              </a:lnSpc>
            </a:pPr>
            <a:r>
              <a:rPr lang="fr-FR" b="1" i="1" dirty="0">
                <a:cs typeface="+mj-cs"/>
              </a:rPr>
              <a:t>CB au moyen d'une burette.</a:t>
            </a:r>
          </a:p>
          <a:p>
            <a:pPr>
              <a:lnSpc>
                <a:spcPct val="150000"/>
              </a:lnSpc>
            </a:pPr>
            <a:endParaRPr lang="ar-AE" b="1" i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85595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d’un acide fort par et base forte</a:t>
            </a:r>
            <a:endParaRPr lang="ar-AE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79714" y="2168433"/>
            <a:ext cx="635462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cs typeface="+mj-cs"/>
              </a:rPr>
              <a:t>pH d’une solution d’un sel d’acide fort et de base forte</a:t>
            </a:r>
            <a:endParaRPr lang="ar-AE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897" y="2899954"/>
            <a:ext cx="6747360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 smtClean="0">
                <a:cs typeface="+mj-cs"/>
              </a:rPr>
              <a:t>1/Avant </a:t>
            </a:r>
            <a:r>
              <a:rPr lang="fr-FR" b="1" dirty="0">
                <a:cs typeface="+mj-cs"/>
              </a:rPr>
              <a:t>l’ajout de la base : </a:t>
            </a:r>
          </a:p>
          <a:p>
            <a:r>
              <a:rPr lang="fr-FR" b="1" dirty="0">
                <a:cs typeface="+mj-cs"/>
              </a:rPr>
              <a:t>Le pH de la solution est celui d’un acide fort : </a:t>
            </a:r>
            <a:r>
              <a:rPr lang="fr-FR" b="1" dirty="0">
                <a:solidFill>
                  <a:srgbClr val="00B050"/>
                </a:solidFill>
                <a:cs typeface="+mj-cs"/>
              </a:rPr>
              <a:t>pH = -log C1 </a:t>
            </a:r>
          </a:p>
          <a:p>
            <a:endParaRPr lang="ar-AE" dirty="0"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137" y="3739891"/>
            <a:ext cx="11146000" cy="203132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cs typeface="+mj-cs"/>
              </a:rPr>
              <a:t>2/Si n(H3O) (avant le point équivalent (P.E)) </a:t>
            </a:r>
          </a:p>
          <a:p>
            <a:r>
              <a:rPr lang="fr-FR" b="1" dirty="0">
                <a:cs typeface="+mj-cs"/>
              </a:rPr>
              <a:t>Une partie des ions H3O+ est neutralisée par les ions OH-, le nombre de moles ( H3O+) restant est : </a:t>
            </a:r>
          </a:p>
          <a:p>
            <a:r>
              <a:rPr lang="fr-FR" b="1" dirty="0">
                <a:cs typeface="+mj-cs"/>
              </a:rPr>
              <a:t>n(H3O+) = C1V1 - C2V2 =(n(H3O+) - (</a:t>
            </a:r>
            <a:r>
              <a:rPr lang="fr-FR" b="1" dirty="0" err="1">
                <a:cs typeface="+mj-cs"/>
              </a:rPr>
              <a:t>nOH</a:t>
            </a:r>
            <a:r>
              <a:rPr lang="fr-FR" b="1" dirty="0">
                <a:cs typeface="+mj-cs"/>
              </a:rPr>
              <a:t>-)</a:t>
            </a:r>
          </a:p>
          <a:p>
            <a:endParaRPr lang="fr-FR" b="1" dirty="0">
              <a:cs typeface="+mj-cs"/>
            </a:endParaRPr>
          </a:p>
          <a:p>
            <a:r>
              <a:rPr lang="fr-FR" b="1" dirty="0">
                <a:cs typeface="+mj-cs"/>
              </a:rPr>
              <a:t>[𝐻3𝑂+]=𝐶1𝑉1−𝐶2𝑉2/𝑉1+𝑉2 </a:t>
            </a:r>
          </a:p>
          <a:p>
            <a:r>
              <a:rPr lang="fr-FR" b="1" dirty="0">
                <a:cs typeface="+mj-cs"/>
              </a:rPr>
              <a:t>Donc </a:t>
            </a:r>
            <a:r>
              <a:rPr lang="fr-FR" b="1" dirty="0">
                <a:solidFill>
                  <a:srgbClr val="00B050"/>
                </a:solidFill>
                <a:cs typeface="+mj-cs"/>
              </a:rPr>
              <a:t>𝒑𝑯= −𝐥𝐨𝐠 (𝑪𝟏𝑽𝟏−𝑪𝟐𝑽𝟐/𝑽𝟏+𝑽𝟐)</a:t>
            </a:r>
          </a:p>
          <a:p>
            <a:endParaRPr lang="ar-AE" dirty="0"/>
          </a:p>
        </p:txBody>
      </p:sp>
    </p:spTree>
    <p:extLst>
      <p:ext uri="{BB962C8B-B14F-4D97-AF65-F5344CB8AC3E}">
        <p14:creationId xmlns:p14="http://schemas.microsoft.com/office/powerpoint/2010/main" val="4169768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d’un acide fort et une base forte</a:t>
            </a:r>
            <a:endParaRPr lang="ar-AE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79714" y="2168433"/>
            <a:ext cx="7239482" cy="355481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cs typeface="+mj-cs"/>
              </a:rPr>
              <a:t>pH d’une solution d’un sel d’acide fort et de base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forte </a:t>
            </a:r>
          </a:p>
          <a:p>
            <a:r>
              <a:rPr lang="fr-FR" b="1" dirty="0">
                <a:solidFill>
                  <a:srgbClr val="FF0000"/>
                </a:solidFill>
                <a:cs typeface="+mj-cs"/>
              </a:rPr>
              <a:t> </a:t>
            </a:r>
            <a:endParaRPr lang="fr-FR" b="1" dirty="0" smtClean="0">
              <a:solidFill>
                <a:srgbClr val="FF0000"/>
              </a:solidFill>
              <a:cs typeface="+mj-cs"/>
            </a:endParaRPr>
          </a:p>
          <a:p>
            <a:pPr algn="just">
              <a:lnSpc>
                <a:spcPct val="150000"/>
              </a:lnSpc>
            </a:pPr>
            <a:r>
              <a:rPr lang="fr-FR" b="1" dirty="0" smtClean="0">
                <a:cs typeface="+mj-cs"/>
              </a:rPr>
              <a:t>3/ A </a:t>
            </a:r>
            <a:r>
              <a:rPr lang="fr-FR" b="1" dirty="0">
                <a:cs typeface="+mj-cs"/>
              </a:rPr>
              <a:t>l’équivalence : Na Va = Nb </a:t>
            </a:r>
            <a:r>
              <a:rPr lang="fr-FR" b="1" dirty="0" err="1">
                <a:cs typeface="+mj-cs"/>
              </a:rPr>
              <a:t>Vb</a:t>
            </a:r>
            <a:endParaRPr lang="fr-FR" b="1" dirty="0">
              <a:cs typeface="+mj-cs"/>
            </a:endParaRPr>
          </a:p>
          <a:p>
            <a:pPr algn="just">
              <a:lnSpc>
                <a:spcPct val="150000"/>
              </a:lnSpc>
            </a:pPr>
            <a:r>
              <a:rPr lang="fr-FR" b="1" dirty="0">
                <a:cs typeface="+mj-cs"/>
              </a:rPr>
              <a:t>    </a:t>
            </a:r>
            <a:r>
              <a:rPr lang="fr-FR" b="1" dirty="0" smtClean="0">
                <a:cs typeface="+mj-cs"/>
              </a:rPr>
              <a:t>n(H3O+) </a:t>
            </a:r>
            <a:r>
              <a:rPr lang="fr-FR" b="1" dirty="0">
                <a:cs typeface="+mj-cs"/>
              </a:rPr>
              <a:t>= </a:t>
            </a:r>
            <a:r>
              <a:rPr lang="fr-FR" b="1" dirty="0" smtClean="0">
                <a:cs typeface="+mj-cs"/>
              </a:rPr>
              <a:t>n(OH-)</a:t>
            </a:r>
            <a:endParaRPr lang="fr-FR" b="1" dirty="0">
              <a:cs typeface="+mj-cs"/>
            </a:endParaRPr>
          </a:p>
          <a:p>
            <a:pPr algn="just">
              <a:lnSpc>
                <a:spcPct val="150000"/>
              </a:lnSpc>
            </a:pPr>
            <a:endParaRPr lang="fr-FR" b="1" dirty="0">
              <a:cs typeface="+mj-cs"/>
            </a:endParaRPr>
          </a:p>
          <a:p>
            <a:pPr algn="just">
              <a:lnSpc>
                <a:spcPct val="150000"/>
              </a:lnSpc>
            </a:pPr>
            <a:r>
              <a:rPr lang="fr-FR" b="1" dirty="0" smtClean="0">
                <a:cs typeface="+mj-cs"/>
              </a:rPr>
              <a:t>La </a:t>
            </a:r>
            <a:r>
              <a:rPr lang="fr-FR" b="1" dirty="0">
                <a:cs typeface="+mj-cs"/>
              </a:rPr>
              <a:t>neutralisation est totale, le pH d’un sel neutre.  </a:t>
            </a:r>
          </a:p>
          <a:p>
            <a:pPr algn="just">
              <a:lnSpc>
                <a:spcPct val="150000"/>
              </a:lnSpc>
            </a:pPr>
            <a:r>
              <a:rPr lang="fr-FR" b="1" dirty="0" smtClean="0">
                <a:cs typeface="+mj-cs"/>
              </a:rPr>
              <a:t>[H3O+] </a:t>
            </a:r>
            <a:r>
              <a:rPr lang="fr-FR" b="1" dirty="0">
                <a:cs typeface="+mj-cs"/>
              </a:rPr>
              <a:t>= [</a:t>
            </a:r>
            <a:r>
              <a:rPr lang="fr-FR" b="1" dirty="0" smtClean="0">
                <a:cs typeface="+mj-cs"/>
              </a:rPr>
              <a:t>OH-] </a:t>
            </a:r>
            <a:r>
              <a:rPr lang="fr-FR" b="1" dirty="0">
                <a:cs typeface="+mj-cs"/>
              </a:rPr>
              <a:t>= </a:t>
            </a:r>
            <a:r>
              <a:rPr lang="fr-FR" b="1" dirty="0" smtClean="0">
                <a:cs typeface="+mj-cs"/>
              </a:rPr>
              <a:t>10</a:t>
            </a:r>
            <a:r>
              <a:rPr lang="fr-FR" b="1" baseline="30000" dirty="0" smtClean="0">
                <a:cs typeface="+mj-cs"/>
              </a:rPr>
              <a:t>-7</a:t>
            </a:r>
            <a:r>
              <a:rPr lang="fr-FR" b="1" dirty="0" smtClean="0">
                <a:cs typeface="+mj-cs"/>
              </a:rPr>
              <a:t> mole/l   donc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PH </a:t>
            </a:r>
            <a:r>
              <a:rPr lang="fr-FR" b="1" dirty="0">
                <a:solidFill>
                  <a:srgbClr val="00B050"/>
                </a:solidFill>
                <a:cs typeface="+mj-cs"/>
              </a:rPr>
              <a:t>= 7. 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solidFill>
                  <a:srgbClr val="00B050"/>
                </a:solidFill>
                <a:cs typeface="+mj-cs"/>
              </a:rPr>
              <a:t>Lors du titrage d’un acide fort par une base forte, le pH au point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solidFill>
                  <a:srgbClr val="00B050"/>
                </a:solidFill>
                <a:cs typeface="+mj-cs"/>
              </a:rPr>
              <a:t>équivalent est neutre</a:t>
            </a:r>
            <a:endParaRPr lang="ar-AE" b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74236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d’un acide fort et une base forte</a:t>
            </a:r>
            <a:endParaRPr lang="ar-AE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79714" y="2168433"/>
            <a:ext cx="7733212" cy="387798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FF0000"/>
                </a:solidFill>
                <a:cs typeface="+mj-cs"/>
              </a:rPr>
              <a:t>pH d’une solution d’un sel d’acide fort et de base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forte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rgbClr val="FF0000"/>
              </a:solidFill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+mj-cs"/>
              </a:rPr>
              <a:t>4/Si n(OH-) </a:t>
            </a:r>
            <a:r>
              <a:rPr lang="fr-FR" b="1" dirty="0">
                <a:cs typeface="+mj-cs"/>
              </a:rPr>
              <a:t>&gt;</a:t>
            </a:r>
            <a:r>
              <a:rPr lang="fr-FR" b="1" dirty="0" smtClean="0">
                <a:cs typeface="+mj-cs"/>
              </a:rPr>
              <a:t>n(H3O+) </a:t>
            </a:r>
            <a:r>
              <a:rPr lang="fr-FR" b="1" dirty="0">
                <a:cs typeface="+mj-cs"/>
              </a:rPr>
              <a:t>(après le P.E)</a:t>
            </a:r>
          </a:p>
          <a:p>
            <a:pPr>
              <a:lnSpc>
                <a:spcPct val="150000"/>
              </a:lnSpc>
            </a:pPr>
            <a:r>
              <a:rPr lang="fr-FR" b="1" dirty="0">
                <a:cs typeface="+mj-cs"/>
              </a:rPr>
              <a:t>Tous les ions </a:t>
            </a:r>
            <a:r>
              <a:rPr lang="fr-FR" b="1" dirty="0" smtClean="0">
                <a:cs typeface="+mj-cs"/>
              </a:rPr>
              <a:t>H3O+ sont neutralisés et il reste des ions OH- en </a:t>
            </a:r>
            <a:r>
              <a:rPr lang="fr-FR" b="1" dirty="0">
                <a:cs typeface="+mj-cs"/>
              </a:rPr>
              <a:t>excès </a:t>
            </a:r>
            <a:r>
              <a:rPr lang="fr-FR" b="1" dirty="0" smtClean="0">
                <a:cs typeface="+mj-cs"/>
              </a:rPr>
              <a:t>:</a:t>
            </a:r>
            <a:endParaRPr lang="fr-FR" b="1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+mj-cs"/>
              </a:rPr>
              <a:t>n(OH-)</a:t>
            </a:r>
            <a:r>
              <a:rPr lang="fr-FR" b="1" dirty="0" err="1">
                <a:cs typeface="+mj-cs"/>
              </a:rPr>
              <a:t>rest</a:t>
            </a:r>
            <a:r>
              <a:rPr lang="fr-FR" b="1" dirty="0">
                <a:cs typeface="+mj-cs"/>
              </a:rPr>
              <a:t> = (</a:t>
            </a:r>
            <a:r>
              <a:rPr lang="fr-FR" b="1" dirty="0" err="1" smtClean="0">
                <a:cs typeface="+mj-cs"/>
              </a:rPr>
              <a:t>nOH</a:t>
            </a:r>
            <a:r>
              <a:rPr lang="fr-FR" b="1" dirty="0" smtClean="0">
                <a:cs typeface="+mj-cs"/>
              </a:rPr>
              <a:t>-)</a:t>
            </a:r>
            <a:r>
              <a:rPr lang="fr-FR" b="1" dirty="0">
                <a:cs typeface="+mj-cs"/>
              </a:rPr>
              <a:t>versés - (</a:t>
            </a:r>
            <a:r>
              <a:rPr lang="fr-FR" b="1" dirty="0" smtClean="0">
                <a:cs typeface="+mj-cs"/>
              </a:rPr>
              <a:t>n(H3O+)i  </a:t>
            </a:r>
            <a:r>
              <a:rPr lang="fr-FR" b="1" dirty="0">
                <a:cs typeface="+mj-cs"/>
              </a:rPr>
              <a:t>= C2V2 – </a:t>
            </a:r>
            <a:r>
              <a:rPr lang="fr-FR" b="1" dirty="0" smtClean="0">
                <a:cs typeface="+mj-cs"/>
              </a:rPr>
              <a:t>C1V1</a:t>
            </a:r>
            <a:endParaRPr lang="fr-FR" b="1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b="1" dirty="0" smtClean="0">
                <a:cs typeface="+mj-cs"/>
              </a:rPr>
              <a:t>[𝑂𝐻−]=</a:t>
            </a:r>
            <a:r>
              <a:rPr lang="fr-FR" b="1" dirty="0">
                <a:cs typeface="+mj-cs"/>
              </a:rPr>
              <a:t>𝐶2𝑉2−𝐶1𝑉1/ 𝑉1+𝑉</a:t>
            </a:r>
            <a:r>
              <a:rPr lang="fr-FR" b="1" dirty="0" smtClean="0">
                <a:cs typeface="+mj-cs"/>
              </a:rPr>
              <a:t>2</a:t>
            </a:r>
            <a:endParaRPr lang="fr-FR" b="1" dirty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cs typeface="+mj-cs"/>
              </a:rPr>
              <a:t>𝑝𝑂𝐻=−log (𝐶2𝑉2−𝐶1𝑉1/𝑉1+𝑉2)</a:t>
            </a: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FF0000"/>
                </a:solidFill>
                <a:cs typeface="+mj-cs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b="1" dirty="0" smtClean="0">
                <a:solidFill>
                  <a:srgbClr val="00B050"/>
                </a:solidFill>
                <a:cs typeface="+mj-cs"/>
              </a:rPr>
              <a:t>			</a:t>
            </a:r>
            <a:r>
              <a:rPr lang="fr-FR" sz="2000" b="1" dirty="0" smtClean="0">
                <a:solidFill>
                  <a:srgbClr val="00B050"/>
                </a:solidFill>
                <a:cs typeface="+mj-cs"/>
              </a:rPr>
              <a:t>𝒑𝑯</a:t>
            </a:r>
            <a:r>
              <a:rPr lang="fr-FR" sz="2000" b="1" dirty="0">
                <a:solidFill>
                  <a:srgbClr val="00B050"/>
                </a:solidFill>
                <a:cs typeface="+mj-cs"/>
              </a:rPr>
              <a:t>=𝟏𝟒+𝐥𝐨𝐠 (𝑪𝟐𝑽𝟐−𝑪𝟏𝑽𝟏/𝑽𝟏+𝑽𝟐)</a:t>
            </a:r>
            <a:endParaRPr lang="ar-AE" sz="2000" b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5131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d’un acide fort par une base forte</a:t>
            </a:r>
            <a:endParaRPr lang="ar-AE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58" y="2600857"/>
            <a:ext cx="5409524" cy="4257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354" y="2207623"/>
            <a:ext cx="483497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Titrage d’un acide fort par une base forte</a:t>
            </a:r>
          </a:p>
          <a:p>
            <a:endParaRPr lang="ar-AE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905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620" y="2095434"/>
            <a:ext cx="6649134" cy="478323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</a:t>
            </a:r>
            <a:r>
              <a:rPr lang="fr-FR" sz="2800" b="1" dirty="0"/>
              <a:t>d’un acide faible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 </a:t>
            </a:r>
            <a:endParaRPr lang="ar-AE" sz="2800" b="1" dirty="0"/>
          </a:p>
        </p:txBody>
      </p:sp>
    </p:spTree>
    <p:extLst>
      <p:ext uri="{BB962C8B-B14F-4D97-AF65-F5344CB8AC3E}">
        <p14:creationId xmlns:p14="http://schemas.microsoft.com/office/powerpoint/2010/main" val="723083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</a:t>
            </a:r>
            <a:r>
              <a:rPr lang="fr-FR" sz="2800" b="1" dirty="0"/>
              <a:t>d’un acide faible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 </a:t>
            </a:r>
            <a:endParaRPr lang="ar-AE" sz="2800" b="1" dirty="0"/>
          </a:p>
        </p:txBody>
      </p:sp>
      <p:pic>
        <p:nvPicPr>
          <p:cNvPr id="1026" name="Picture 2" descr="PHweak3.png (187×37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966" y="4346148"/>
            <a:ext cx="3975654" cy="78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itraW1.png (321×20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68" y="2869940"/>
            <a:ext cx="7050765" cy="43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83503" y="2282217"/>
            <a:ext cx="47323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>
                <a:solidFill>
                  <a:srgbClr val="FF0000"/>
                </a:solidFill>
              </a:rPr>
              <a:t>Titrage de l’acide acétique par la soude</a:t>
            </a:r>
            <a:endParaRPr lang="ar-AE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3503" y="3422818"/>
            <a:ext cx="8252580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/>
              <a:t>Cette réaction est totale.  </a:t>
            </a:r>
          </a:p>
          <a:p>
            <a:r>
              <a:rPr lang="fr-FR" b="1" i="1" dirty="0" smtClean="0"/>
              <a:t>1/Avant </a:t>
            </a:r>
            <a:r>
              <a:rPr lang="fr-FR" b="1" i="1" dirty="0"/>
              <a:t>le titrage le pH de la solution d’acide acétique est donné par la</a:t>
            </a:r>
          </a:p>
          <a:p>
            <a:r>
              <a:rPr lang="fr-FR" b="1" i="1" dirty="0"/>
              <a:t>relation d’un acide faible : </a:t>
            </a:r>
            <a:endParaRPr lang="ar-AE" b="1" i="1" dirty="0"/>
          </a:p>
        </p:txBody>
      </p:sp>
    </p:spTree>
    <p:extLst>
      <p:ext uri="{BB962C8B-B14F-4D97-AF65-F5344CB8AC3E}">
        <p14:creationId xmlns:p14="http://schemas.microsoft.com/office/powerpoint/2010/main" val="42461521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</a:t>
            </a:r>
            <a:r>
              <a:rPr lang="fr-FR" sz="2800" b="1" dirty="0"/>
              <a:t>d’un acide faible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 </a:t>
            </a:r>
            <a:endParaRPr lang="ar-AE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28224" y="2207623"/>
            <a:ext cx="9658413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just"/>
            <a:r>
              <a:rPr lang="fr-FR" b="1" i="1" dirty="0" smtClean="0"/>
              <a:t>2/ Cependant </a:t>
            </a:r>
            <a:r>
              <a:rPr lang="fr-FR" b="1" i="1" dirty="0"/>
              <a:t>le pH à l’équivalence n’est pas neutre mais basique.  Tout l’acide</a:t>
            </a:r>
          </a:p>
          <a:p>
            <a:pPr algn="just"/>
            <a:r>
              <a:rPr lang="fr-FR" b="1" i="1" dirty="0"/>
              <a:t>acétique et </a:t>
            </a:r>
            <a:r>
              <a:rPr lang="fr-FR" b="1" i="1" dirty="0" err="1"/>
              <a:t>NaOH</a:t>
            </a:r>
            <a:r>
              <a:rPr lang="fr-FR" b="1" i="1" dirty="0"/>
              <a:t> sont consommés mais l’</a:t>
            </a:r>
            <a:r>
              <a:rPr lang="fr-FR" b="1" i="1" dirty="0">
                <a:solidFill>
                  <a:srgbClr val="FF0000"/>
                </a:solidFill>
              </a:rPr>
              <a:t>acétate</a:t>
            </a:r>
            <a:r>
              <a:rPr lang="fr-FR" b="1" i="1" dirty="0"/>
              <a:t> a été produite et c’ est une base</a:t>
            </a:r>
          </a:p>
          <a:p>
            <a:pPr algn="just"/>
            <a:r>
              <a:rPr lang="fr-FR" b="1" i="1" dirty="0"/>
              <a:t>faible. </a:t>
            </a:r>
            <a:endParaRPr lang="ar-AE" b="1" i="1" dirty="0"/>
          </a:p>
        </p:txBody>
      </p:sp>
      <p:sp>
        <p:nvSpPr>
          <p:cNvPr id="7" name="TextBox 6"/>
          <p:cNvSpPr txBox="1"/>
          <p:nvPr/>
        </p:nvSpPr>
        <p:spPr>
          <a:xfrm>
            <a:off x="728224" y="3130953"/>
            <a:ext cx="1059617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/>
              <a:t>a/Avant l’équivalence, le pH dépend de la quantité d’acide faible et de </a:t>
            </a:r>
            <a:r>
              <a:rPr lang="fr-FR" b="1" dirty="0" smtClean="0"/>
              <a:t>sa base </a:t>
            </a:r>
            <a:r>
              <a:rPr lang="fr-FR" b="1" dirty="0"/>
              <a:t>conjuguée : </a:t>
            </a:r>
            <a:endParaRPr lang="ar-AE" b="1" dirty="0"/>
          </a:p>
        </p:txBody>
      </p:sp>
      <p:pic>
        <p:nvPicPr>
          <p:cNvPr id="3074" name="Picture 2" descr="titraW2.png (158×5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428" y="3500285"/>
            <a:ext cx="2666003" cy="86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97280" y="4872446"/>
            <a:ext cx="9432390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/>
              <a:t>Ce mélange entre un acide faible et sa base conjuguée est appelé une solution</a:t>
            </a:r>
          </a:p>
          <a:p>
            <a:r>
              <a:rPr lang="fr-FR" b="1" i="1" dirty="0"/>
              <a:t>tampon car l’addition d’une base forte ou d’acide ne modifie pas sensiblement le</a:t>
            </a:r>
          </a:p>
          <a:p>
            <a:r>
              <a:rPr lang="fr-FR" b="1" i="1" dirty="0"/>
              <a:t>pH de la solution.</a:t>
            </a:r>
            <a:endParaRPr lang="ar-AE" b="1" i="1" dirty="0"/>
          </a:p>
        </p:txBody>
      </p:sp>
    </p:spTree>
    <p:extLst>
      <p:ext uri="{BB962C8B-B14F-4D97-AF65-F5344CB8AC3E}">
        <p14:creationId xmlns:p14="http://schemas.microsoft.com/office/powerpoint/2010/main" val="2126580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</a:t>
            </a:r>
            <a:r>
              <a:rPr lang="fr-FR" sz="2800" b="1" dirty="0"/>
              <a:t>d’un acide faible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 </a:t>
            </a:r>
            <a:endParaRPr lang="ar-AE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240971" y="2521131"/>
            <a:ext cx="8074646" cy="147732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dirty="0"/>
              <a:t>La demi-équivalence est le moment où il y a autant de CH3COOH que</a:t>
            </a:r>
          </a:p>
          <a:p>
            <a:r>
              <a:rPr lang="fr-FR" b="1" dirty="0" smtClean="0"/>
              <a:t>CH3COO. </a:t>
            </a:r>
            <a:r>
              <a:rPr lang="fr-FR" b="1" dirty="0"/>
              <a:t>À ce stade </a:t>
            </a:r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r>
              <a:rPr lang="fr-FR" b="1" dirty="0"/>
              <a:t> </a:t>
            </a:r>
            <a:r>
              <a:rPr lang="fr-FR" b="1" dirty="0" smtClean="0"/>
              <a:t>                                       pH </a:t>
            </a:r>
            <a:r>
              <a:rPr lang="fr-FR" b="1" dirty="0"/>
              <a:t>= </a:t>
            </a:r>
            <a:r>
              <a:rPr lang="fr-FR" b="1" dirty="0" err="1"/>
              <a:t>pKa</a:t>
            </a:r>
            <a:r>
              <a:rPr lang="fr-FR" b="1" dirty="0"/>
              <a:t>. </a:t>
            </a:r>
            <a:endParaRPr lang="ar-AE" b="1" dirty="0"/>
          </a:p>
        </p:txBody>
      </p:sp>
    </p:spTree>
    <p:extLst>
      <p:ext uri="{BB962C8B-B14F-4D97-AF65-F5344CB8AC3E}">
        <p14:creationId xmlns:p14="http://schemas.microsoft.com/office/powerpoint/2010/main" val="8414806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5028" y="2335902"/>
            <a:ext cx="8190063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/>
              <a:t>l’équivalence le pH est donné par la quantité d’acétate dans la solution</a:t>
            </a:r>
          </a:p>
          <a:p>
            <a:r>
              <a:rPr lang="fr-FR" b="1" i="1" dirty="0"/>
              <a:t>(sel basique faible : formule pour une base </a:t>
            </a:r>
            <a:r>
              <a:rPr lang="fr-FR" b="1" i="1" dirty="0" smtClean="0"/>
              <a:t>faible</a:t>
            </a:r>
            <a:r>
              <a:rPr lang="fr-FR" b="1" i="1" dirty="0"/>
              <a:t> </a:t>
            </a:r>
            <a:r>
              <a:rPr lang="fr-FR" b="1" i="1" dirty="0" smtClean="0"/>
              <a:t>CH3COO-. </a:t>
            </a:r>
            <a:endParaRPr lang="fr-FR" b="1" i="1" dirty="0"/>
          </a:p>
          <a:p>
            <a:endParaRPr lang="ar-AE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gray">
          <a:xfrm>
            <a:off x="1307354" y="11260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sz="2800" b="1" dirty="0" smtClean="0"/>
              <a:t>Mélange </a:t>
            </a:r>
            <a:r>
              <a:rPr lang="fr-FR" sz="2800" b="1" dirty="0"/>
              <a:t>d’un acide faible </a:t>
            </a:r>
            <a:r>
              <a:rPr lang="fr-FR" sz="2800" b="1" dirty="0" smtClean="0"/>
              <a:t>et </a:t>
            </a:r>
            <a:r>
              <a:rPr lang="fr-FR" sz="2800" b="1" dirty="0"/>
              <a:t>une base forte </a:t>
            </a:r>
            <a:endParaRPr lang="ar-AE" sz="28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25" y="3056708"/>
            <a:ext cx="7121120" cy="14107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4558937"/>
            <a:ext cx="8379217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/>
              <a:t>Après le point d’équivalence le pH est donné par la quantité en excès de</a:t>
            </a:r>
          </a:p>
          <a:p>
            <a:r>
              <a:rPr lang="fr-FR" b="1" i="1" dirty="0" err="1"/>
              <a:t>NaOH</a:t>
            </a:r>
            <a:r>
              <a:rPr lang="fr-FR" b="1" i="1" dirty="0"/>
              <a:t> dans la solution.  </a:t>
            </a:r>
            <a:endParaRPr lang="ar-AE" b="1" i="1" dirty="0"/>
          </a:p>
          <a:p>
            <a:endParaRPr lang="ar-A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345" y="5188302"/>
            <a:ext cx="4834659" cy="152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821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980" y="1579745"/>
            <a:ext cx="6624637" cy="488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56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pH des Polyacides et </a:t>
            </a:r>
            <a:r>
              <a:rPr lang="fr-FR" b="1" dirty="0" err="1"/>
              <a:t>Polybases</a:t>
            </a:r>
            <a:endParaRPr lang="ar-A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157480" cy="34163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400" b="1" dirty="0">
                <a:cs typeface="+mj-cs"/>
              </a:rPr>
              <a:t>Les polyacides et </a:t>
            </a:r>
            <a:r>
              <a:rPr lang="fr-FR" sz="2400" b="1" dirty="0" err="1">
                <a:cs typeface="+mj-cs"/>
              </a:rPr>
              <a:t>polybases</a:t>
            </a:r>
            <a:r>
              <a:rPr lang="fr-FR" sz="2400" b="1" dirty="0">
                <a:cs typeface="+mj-cs"/>
              </a:rPr>
              <a:t> sont des composés chimiques qui possèdent plusieurs sites de dissociation (ou d'ionisation) dans leurs structures. Cela signifie qu'ils peuvent libérer ou capter plusieurs ions H</a:t>
            </a:r>
            <a:r>
              <a:rPr lang="fr-FR" sz="2400" b="1" dirty="0" smtClean="0">
                <a:cs typeface="+mj-cs"/>
              </a:rPr>
              <a:t>+(protons</a:t>
            </a:r>
            <a:r>
              <a:rPr lang="fr-FR" sz="2400" b="1" dirty="0">
                <a:cs typeface="+mj-cs"/>
              </a:rPr>
              <a:t>) ou </a:t>
            </a:r>
            <a:r>
              <a:rPr lang="fr-FR" sz="2400" b="1" dirty="0" smtClean="0">
                <a:cs typeface="+mj-cs"/>
              </a:rPr>
              <a:t>OH</a:t>
            </a:r>
            <a:r>
              <a:rPr lang="fr-FR" sz="2400" b="1" dirty="0">
                <a:cs typeface="+mj-cs"/>
              </a:rPr>
              <a:t>− (hydroxyles) successivement, selon le nombre de groupes acides ou basiques qu'ils contiennent. Ces dissociations multiples influencent leur comportement en solution et leur impact sur le pH.</a:t>
            </a:r>
            <a:endParaRPr lang="ar-AE" sz="24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606069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708" y="2329180"/>
            <a:ext cx="8825659" cy="3416300"/>
          </a:xfrm>
        </p:spPr>
        <p:txBody>
          <a:bodyPr/>
          <a:lstStyle/>
          <a:p>
            <a:r>
              <a:rPr lang="fr-FR" sz="2400" b="1" dirty="0">
                <a:solidFill>
                  <a:srgbClr val="FF0000"/>
                </a:solidFill>
                <a:cs typeface="+mj-cs"/>
              </a:rPr>
              <a:t>Polyacides</a:t>
            </a:r>
            <a:r>
              <a:rPr lang="fr-FR" sz="2400" dirty="0">
                <a:solidFill>
                  <a:srgbClr val="FF0000"/>
                </a:solidFill>
                <a:cs typeface="+mj-cs"/>
              </a:rPr>
              <a:t> :</a:t>
            </a:r>
          </a:p>
          <a:p>
            <a:r>
              <a:rPr lang="fr-FR" b="1" dirty="0">
                <a:cs typeface="+mj-cs"/>
              </a:rPr>
              <a:t>Les polyacides sont des acides qui peuvent libérer plusieurs protons successivement. Chaque proton libéré est associé à une constante de dissociation acide (</a:t>
            </a:r>
            <a:r>
              <a:rPr lang="fr-FR" b="1" dirty="0" err="1">
                <a:cs typeface="+mj-cs"/>
              </a:rPr>
              <a:t>pKa</a:t>
            </a:r>
            <a:r>
              <a:rPr lang="fr-FR" b="1" dirty="0">
                <a:cs typeface="+mj-cs"/>
              </a:rPr>
              <a:t>).</a:t>
            </a:r>
          </a:p>
          <a:p>
            <a:r>
              <a:rPr lang="fr-FR" b="1" dirty="0">
                <a:cs typeface="+mj-cs"/>
              </a:rPr>
              <a:t>Par exemple, l'acide phosphorique (</a:t>
            </a:r>
            <a:r>
              <a:rPr lang="fr-FR" b="1" dirty="0" smtClean="0">
                <a:cs typeface="+mj-cs"/>
              </a:rPr>
              <a:t>H3PO4 est </a:t>
            </a:r>
            <a:r>
              <a:rPr lang="fr-FR" b="1" dirty="0">
                <a:cs typeface="+mj-cs"/>
              </a:rPr>
              <a:t>un polyacide capable de libérer jusqu'à trois protons, ce qui lui donne trois </a:t>
            </a:r>
            <a:r>
              <a:rPr lang="fr-FR" b="1" dirty="0" err="1">
                <a:cs typeface="+mj-cs"/>
              </a:rPr>
              <a:t>pKa</a:t>
            </a:r>
            <a:r>
              <a:rPr lang="fr-FR" b="1" dirty="0">
                <a:cs typeface="+mj-cs"/>
              </a:rPr>
              <a:t> (</a:t>
            </a:r>
            <a:r>
              <a:rPr lang="fr-FR" b="1" dirty="0" err="1">
                <a:cs typeface="+mj-cs"/>
              </a:rPr>
              <a:t>pKa</a:t>
            </a:r>
            <a:r>
              <a:rPr lang="fr-FR" b="1" dirty="0">
                <a:cs typeface="+mj-cs"/>
              </a:rPr>
              <a:t>₁, </a:t>
            </a:r>
            <a:r>
              <a:rPr lang="fr-FR" b="1" dirty="0" err="1">
                <a:cs typeface="+mj-cs"/>
              </a:rPr>
              <a:t>pKa</a:t>
            </a:r>
            <a:r>
              <a:rPr lang="fr-FR" b="1" dirty="0">
                <a:cs typeface="+mj-cs"/>
              </a:rPr>
              <a:t>₂, </a:t>
            </a:r>
            <a:r>
              <a:rPr lang="fr-FR" b="1" dirty="0" err="1">
                <a:cs typeface="+mj-cs"/>
              </a:rPr>
              <a:t>pKa</a:t>
            </a:r>
            <a:r>
              <a:rPr lang="fr-FR" b="1" dirty="0">
                <a:cs typeface="+mj-cs"/>
              </a:rPr>
              <a:t>₃).</a:t>
            </a:r>
          </a:p>
          <a:p>
            <a:r>
              <a:rPr lang="fr-FR" b="1" dirty="0">
                <a:cs typeface="+mj-cs"/>
              </a:rPr>
              <a:t>La dissociation se fait étape par étape : chaque proton est libéré à des pH différents, ce qui modifie graduellement le pH de la solution.</a:t>
            </a:r>
          </a:p>
          <a:p>
            <a:pPr marL="0" indent="0">
              <a:buNone/>
            </a:pPr>
            <a:endParaRPr lang="ar-AE" dirty="0">
              <a:cs typeface="+mj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pH des Polyacides et </a:t>
            </a:r>
            <a:r>
              <a:rPr lang="fr-FR" b="1" dirty="0" err="1"/>
              <a:t>Polybases</a:t>
            </a:r>
            <a:endParaRPr lang="ar-AE" b="1" dirty="0"/>
          </a:p>
        </p:txBody>
      </p:sp>
    </p:spTree>
    <p:extLst>
      <p:ext uri="{BB962C8B-B14F-4D97-AF65-F5344CB8AC3E}">
        <p14:creationId xmlns:p14="http://schemas.microsoft.com/office/powerpoint/2010/main" val="3314951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pH des Polyacides et </a:t>
            </a:r>
            <a:r>
              <a:rPr lang="fr-FR" b="1" dirty="0" err="1"/>
              <a:t>Polybases</a:t>
            </a:r>
            <a:endParaRPr lang="ar-AE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8" y="3218089"/>
            <a:ext cx="11094996" cy="18372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50697" y="2508069"/>
            <a:ext cx="217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Polyacides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11983606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pH des Polyacides et </a:t>
            </a:r>
            <a:r>
              <a:rPr lang="fr-FR" b="1" dirty="0" err="1"/>
              <a:t>Polybases</a:t>
            </a:r>
            <a:endParaRPr lang="ar-AE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 smtClean="0"/>
              <a:t>pH des Polyacides et </a:t>
            </a:r>
            <a:r>
              <a:rPr lang="fr-FR" b="1" dirty="0" err="1" smtClean="0"/>
              <a:t>Polybases</a:t>
            </a:r>
            <a:endParaRPr lang="ar-AE" b="1" dirty="0"/>
          </a:p>
        </p:txBody>
      </p:sp>
      <p:sp>
        <p:nvSpPr>
          <p:cNvPr id="7" name="Rectangle 6"/>
          <p:cNvSpPr/>
          <p:nvPr/>
        </p:nvSpPr>
        <p:spPr>
          <a:xfrm>
            <a:off x="559257" y="2063932"/>
            <a:ext cx="217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Polyacides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57" y="2503937"/>
            <a:ext cx="11632743" cy="413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22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97" y="3343547"/>
            <a:ext cx="9229725" cy="8763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 smtClean="0"/>
              <a:t>pH des Polyacides et </a:t>
            </a:r>
            <a:r>
              <a:rPr lang="fr-FR" b="1" dirty="0" err="1" smtClean="0"/>
              <a:t>Polybases</a:t>
            </a:r>
            <a:endParaRPr lang="ar-AE" b="1" dirty="0"/>
          </a:p>
        </p:txBody>
      </p:sp>
      <p:sp>
        <p:nvSpPr>
          <p:cNvPr id="6" name="Rectangle 5"/>
          <p:cNvSpPr/>
          <p:nvPr/>
        </p:nvSpPr>
        <p:spPr>
          <a:xfrm>
            <a:off x="559257" y="2063932"/>
            <a:ext cx="217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Polyacides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1055778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0" y="2213555"/>
            <a:ext cx="11090031" cy="393905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gray">
          <a:xfrm>
            <a:off x="1141891" y="856121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 smtClean="0"/>
              <a:t>pH des Polyacides et </a:t>
            </a:r>
            <a:r>
              <a:rPr lang="fr-FR" b="1" dirty="0" err="1" smtClean="0"/>
              <a:t>Polybases</a:t>
            </a:r>
            <a:endParaRPr lang="ar-AE" b="1" dirty="0"/>
          </a:p>
        </p:txBody>
      </p:sp>
      <p:sp>
        <p:nvSpPr>
          <p:cNvPr id="6" name="Rectangle 5"/>
          <p:cNvSpPr/>
          <p:nvPr/>
        </p:nvSpPr>
        <p:spPr>
          <a:xfrm>
            <a:off x="533132" y="1896997"/>
            <a:ext cx="217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Polyacides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117" y="3219850"/>
            <a:ext cx="909637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0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dirty="0" smtClean="0"/>
              <a:t>pH des Polyacides et </a:t>
            </a:r>
            <a:r>
              <a:rPr lang="fr-FR" b="1" dirty="0" err="1" smtClean="0"/>
              <a:t>Polybases</a:t>
            </a:r>
            <a:endParaRPr lang="ar-AE" b="1" dirty="0"/>
          </a:p>
        </p:txBody>
      </p:sp>
      <p:sp>
        <p:nvSpPr>
          <p:cNvPr id="5" name="Rectangle 4"/>
          <p:cNvSpPr/>
          <p:nvPr/>
        </p:nvSpPr>
        <p:spPr>
          <a:xfrm>
            <a:off x="559257" y="2063932"/>
            <a:ext cx="217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Polyacides</a:t>
            </a:r>
            <a:r>
              <a:rPr lang="fr-FR" sz="2400" dirty="0">
                <a:solidFill>
                  <a:srgbClr val="FF0000"/>
                </a:solidFill>
              </a:rPr>
              <a:t> 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525596"/>
            <a:ext cx="10614794" cy="296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3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04965" y="2290745"/>
            <a:ext cx="29183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  <a:cs typeface="+mj-cs"/>
              </a:rPr>
              <a:t>pH d'une </a:t>
            </a:r>
            <a:r>
              <a:rPr lang="fr-FR" sz="2000" b="1" dirty="0" err="1">
                <a:solidFill>
                  <a:srgbClr val="FF0000"/>
                </a:solidFill>
                <a:cs typeface="+mj-cs"/>
              </a:rPr>
              <a:t>Polybase</a:t>
            </a:r>
            <a:endParaRPr lang="ar-AE" sz="20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b="1" smtClean="0"/>
              <a:t>pH des Polyacides et Polybases</a:t>
            </a:r>
            <a:endParaRPr lang="ar-AE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960" y="2821985"/>
            <a:ext cx="9088992" cy="161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0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556" y="2364378"/>
            <a:ext cx="11678197" cy="216982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00B050"/>
                </a:solidFill>
              </a:rPr>
              <a:t>Les ampholytes </a:t>
            </a:r>
            <a:r>
              <a:rPr lang="fr-FR" b="1" dirty="0"/>
              <a:t>sont des molécules ou des ions qui peuvent agir à la fois comme un acide et </a:t>
            </a:r>
            <a:r>
              <a:rPr lang="fr-FR" b="1" dirty="0" smtClean="0"/>
              <a:t>comme</a:t>
            </a:r>
          </a:p>
          <a:p>
            <a:pPr>
              <a:lnSpc>
                <a:spcPct val="150000"/>
              </a:lnSpc>
            </a:pPr>
            <a:r>
              <a:rPr lang="fr-FR" b="1" dirty="0" smtClean="0"/>
              <a:t> </a:t>
            </a:r>
            <a:r>
              <a:rPr lang="fr-FR" b="1" dirty="0"/>
              <a:t>une base, en fonction du milieu dans lequel ils se trouvent. Ces composés possèdent des groupes </a:t>
            </a:r>
            <a:endParaRPr lang="fr-FR" b="1" dirty="0" smtClean="0"/>
          </a:p>
          <a:p>
            <a:pPr>
              <a:lnSpc>
                <a:spcPct val="150000"/>
              </a:lnSpc>
            </a:pPr>
            <a:r>
              <a:rPr lang="fr-FR" b="1" dirty="0" err="1" smtClean="0"/>
              <a:t>ionisables</a:t>
            </a:r>
            <a:r>
              <a:rPr lang="fr-FR" b="1" dirty="0" smtClean="0"/>
              <a:t> </a:t>
            </a:r>
            <a:r>
              <a:rPr lang="fr-FR" b="1" dirty="0"/>
              <a:t>avec à la fois des caractéristiques acides et basiques. La détermination du pH d'une </a:t>
            </a:r>
            <a:r>
              <a:rPr lang="fr-FR" b="1" dirty="0" smtClean="0"/>
              <a:t>solution</a:t>
            </a:r>
          </a:p>
          <a:p>
            <a:pPr>
              <a:lnSpc>
                <a:spcPct val="150000"/>
              </a:lnSpc>
            </a:pPr>
            <a:r>
              <a:rPr lang="fr-FR" b="1" dirty="0" smtClean="0"/>
              <a:t> </a:t>
            </a:r>
            <a:r>
              <a:rPr lang="fr-FR" b="1" dirty="0"/>
              <a:t>d’ampholytes est importante pour de nombreuses applications en chimie, biochimie et biologie, </a:t>
            </a:r>
            <a:endParaRPr lang="fr-FR" b="1" dirty="0" smtClean="0"/>
          </a:p>
          <a:p>
            <a:pPr>
              <a:lnSpc>
                <a:spcPct val="150000"/>
              </a:lnSpc>
            </a:pPr>
            <a:r>
              <a:rPr lang="fr-FR" b="1" dirty="0" smtClean="0"/>
              <a:t>notamment </a:t>
            </a:r>
            <a:r>
              <a:rPr lang="fr-FR" b="1" dirty="0"/>
              <a:t>pour comprendre le comportement des acides aminés et des protéines.</a:t>
            </a:r>
            <a:endParaRPr lang="ar-A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37657" y="4953785"/>
            <a:ext cx="11355994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b="1" i="1" dirty="0"/>
              <a:t>une substance capable de se comporter soit comme un acide (en libérant un proton), soit comme </a:t>
            </a:r>
            <a:endParaRPr lang="fr-FR" b="1" i="1" dirty="0" smtClean="0"/>
          </a:p>
          <a:p>
            <a:r>
              <a:rPr lang="fr-FR" b="1" i="1" dirty="0" smtClean="0"/>
              <a:t>une </a:t>
            </a:r>
            <a:r>
              <a:rPr lang="fr-FR" b="1" i="1" dirty="0"/>
              <a:t>base (en captant un proton). Ces substances possèdent généralement des fonctions </a:t>
            </a:r>
            <a:r>
              <a:rPr lang="fr-FR" b="1" i="1" dirty="0" smtClean="0"/>
              <a:t>acides</a:t>
            </a:r>
          </a:p>
          <a:p>
            <a:r>
              <a:rPr lang="fr-FR" b="1" i="1" dirty="0" smtClean="0"/>
              <a:t> </a:t>
            </a:r>
            <a:r>
              <a:rPr lang="fr-FR" b="1" i="1" dirty="0"/>
              <a:t>et basiques dans leur structure</a:t>
            </a:r>
            <a:endParaRPr lang="ar-AE" b="1" i="1" dirty="0"/>
          </a:p>
        </p:txBody>
      </p:sp>
    </p:spTree>
    <p:extLst>
      <p:ext uri="{BB962C8B-B14F-4D97-AF65-F5344CB8AC3E}">
        <p14:creationId xmlns:p14="http://schemas.microsoft.com/office/powerpoint/2010/main" val="159313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33400" y="266700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dirty="0"/>
              <a:t>AH</a:t>
            </a:r>
            <a:r>
              <a:rPr lang="fr-FR" altLang="ar-AE" sz="2400" b="1" baseline="-25000" dirty="0"/>
              <a:t>3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2</a:t>
            </a:r>
            <a:r>
              <a:rPr lang="fr-FR" altLang="ar-AE" sz="2400" b="1" dirty="0"/>
              <a:t>O = </a:t>
            </a:r>
            <a:r>
              <a:rPr lang="fr-FR" altLang="ar-AE" sz="2400" b="1" dirty="0">
                <a:solidFill>
                  <a:srgbClr val="FF0000"/>
                </a:solidFill>
              </a:rPr>
              <a:t>AH</a:t>
            </a:r>
            <a:r>
              <a:rPr lang="fr-FR" altLang="ar-AE" sz="2400" b="1" baseline="-25000" dirty="0">
                <a:solidFill>
                  <a:srgbClr val="FF0000"/>
                </a:solidFill>
              </a:rPr>
              <a:t>2</a:t>
            </a:r>
            <a:r>
              <a:rPr lang="fr-FR" altLang="ar-AE" sz="2400" b="1" baseline="30000" dirty="0">
                <a:solidFill>
                  <a:srgbClr val="FF0000"/>
                </a:solidFill>
              </a:rPr>
              <a:t>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3</a:t>
            </a:r>
            <a:r>
              <a:rPr lang="fr-FR" altLang="ar-AE" sz="2400" b="1" dirty="0"/>
              <a:t>O</a:t>
            </a:r>
            <a:r>
              <a:rPr lang="fr-FR" altLang="ar-AE" sz="2400" b="1" baseline="30000" dirty="0"/>
              <a:t>+</a:t>
            </a:r>
            <a:endParaRPr lang="fr-FR" altLang="ar-AE" sz="2400" b="1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09600" y="37338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FF0000"/>
                </a:solidFill>
              </a:rPr>
              <a:t>AH</a:t>
            </a:r>
            <a:r>
              <a:rPr lang="fr-FR" altLang="ar-AE" sz="2400" b="1" baseline="-25000">
                <a:solidFill>
                  <a:srgbClr val="FF0000"/>
                </a:solidFill>
              </a:rPr>
              <a:t>2</a:t>
            </a:r>
            <a:r>
              <a:rPr lang="fr-FR" altLang="ar-AE" sz="2400" b="1" baseline="30000">
                <a:solidFill>
                  <a:srgbClr val="FF0000"/>
                </a:solidFill>
              </a:rPr>
              <a:t>-</a:t>
            </a:r>
            <a:r>
              <a:rPr lang="fr-FR" altLang="ar-AE" sz="2400" b="1"/>
              <a:t> + 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O = </a:t>
            </a:r>
            <a:r>
              <a:rPr lang="fr-FR" altLang="ar-AE" sz="2400" b="1">
                <a:solidFill>
                  <a:srgbClr val="008000"/>
                </a:solidFill>
              </a:rPr>
              <a:t>AH</a:t>
            </a:r>
            <a:r>
              <a:rPr lang="fr-FR" altLang="ar-AE" sz="2400" b="1" baseline="30000">
                <a:solidFill>
                  <a:srgbClr val="008000"/>
                </a:solidFill>
              </a:rPr>
              <a:t>2-</a:t>
            </a:r>
            <a:r>
              <a:rPr lang="fr-FR" altLang="ar-AE" sz="2400" b="1"/>
              <a:t> + H</a:t>
            </a:r>
            <a:r>
              <a:rPr lang="fr-FR" altLang="ar-AE" sz="2400" b="1" baseline="-25000"/>
              <a:t>3</a:t>
            </a:r>
            <a:r>
              <a:rPr lang="fr-FR" altLang="ar-AE" sz="2400" b="1"/>
              <a:t>O</a:t>
            </a:r>
            <a:r>
              <a:rPr lang="fr-FR" altLang="ar-AE" sz="2400" b="1" baseline="30000"/>
              <a:t>+</a:t>
            </a:r>
            <a:endParaRPr lang="fr-FR" altLang="ar-AE" sz="2400" b="1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09600" y="48006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dirty="0">
                <a:solidFill>
                  <a:srgbClr val="008000"/>
                </a:solidFill>
              </a:rPr>
              <a:t>AH</a:t>
            </a:r>
            <a:r>
              <a:rPr lang="fr-FR" altLang="ar-AE" sz="2400" b="1" baseline="30000" dirty="0">
                <a:solidFill>
                  <a:srgbClr val="008000"/>
                </a:solidFill>
              </a:rPr>
              <a:t>2-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2</a:t>
            </a:r>
            <a:r>
              <a:rPr lang="fr-FR" altLang="ar-AE" sz="2400" b="1" dirty="0"/>
              <a:t>O = A</a:t>
            </a:r>
            <a:r>
              <a:rPr lang="fr-FR" altLang="ar-AE" sz="2400" b="1" baseline="30000" dirty="0"/>
              <a:t>3-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3</a:t>
            </a:r>
            <a:r>
              <a:rPr lang="fr-FR" altLang="ar-AE" sz="2400" b="1" dirty="0"/>
              <a:t>O</a:t>
            </a:r>
            <a:r>
              <a:rPr lang="fr-FR" altLang="ar-AE" sz="2400" b="1" baseline="30000" dirty="0"/>
              <a:t>+</a:t>
            </a:r>
            <a:endParaRPr lang="fr-FR" altLang="ar-AE" sz="2400" b="1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57200" y="41910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rgbClr val="FF0000"/>
                </a:solidFill>
              </a:rPr>
              <a:t>acide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438400" y="41910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rgbClr val="008000"/>
                </a:solidFill>
              </a:rPr>
              <a:t>base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33400" y="5257800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rgbClr val="008000"/>
                </a:solidFill>
              </a:rPr>
              <a:t>acide</a:t>
            </a:r>
            <a:endParaRPr lang="fr-FR" altLang="ar-AE" sz="2000" b="1">
              <a:solidFill>
                <a:srgbClr val="FF0000"/>
              </a:solidFill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724400" y="3200400"/>
            <a:ext cx="441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FF0000"/>
                </a:solidFill>
              </a:rPr>
              <a:t>AH</a:t>
            </a:r>
            <a:r>
              <a:rPr lang="fr-FR" altLang="ar-AE" sz="2400" b="1" baseline="-25000">
                <a:solidFill>
                  <a:srgbClr val="FF0000"/>
                </a:solidFill>
              </a:rPr>
              <a:t>2</a:t>
            </a:r>
            <a:r>
              <a:rPr lang="fr-FR" altLang="ar-AE" sz="2400" b="1" baseline="30000">
                <a:solidFill>
                  <a:srgbClr val="FF0000"/>
                </a:solidFill>
              </a:rPr>
              <a:t>-</a:t>
            </a:r>
            <a:r>
              <a:rPr lang="fr-FR" altLang="ar-AE" sz="2400" b="1"/>
              <a:t> et </a:t>
            </a:r>
            <a:r>
              <a:rPr lang="fr-FR" altLang="ar-AE" sz="2400" b="1">
                <a:solidFill>
                  <a:srgbClr val="008000"/>
                </a:solidFill>
              </a:rPr>
              <a:t>AH</a:t>
            </a:r>
            <a:r>
              <a:rPr lang="fr-FR" altLang="ar-AE" sz="2400" b="1" baseline="30000">
                <a:solidFill>
                  <a:srgbClr val="008000"/>
                </a:solidFill>
              </a:rPr>
              <a:t>2-</a:t>
            </a:r>
            <a:r>
              <a:rPr lang="fr-FR" altLang="ar-AE" sz="2400" b="1"/>
              <a:t> sont tous deux des espèces ampholytes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558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achine à écr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achine à écr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achine à écr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  <p:bldP spid="10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4857206" y="6050280"/>
            <a:ext cx="2057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FF0000"/>
                </a:solidFill>
              </a:rPr>
              <a:t>pKa1 + pKa2</a:t>
            </a: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1885406" y="4450080"/>
            <a:ext cx="2743200" cy="495300"/>
          </a:xfrm>
          <a:prstGeom prst="rect">
            <a:avLst/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chemeClr val="accent2"/>
                </a:solidFill>
              </a:rPr>
              <a:t>A</a:t>
            </a:r>
            <a:r>
              <a:rPr lang="fr-FR" altLang="ar-AE" sz="2400" b="1" baseline="30000">
                <a:solidFill>
                  <a:schemeClr val="accent2"/>
                </a:solidFill>
              </a:rPr>
              <a:t>2-</a:t>
            </a:r>
            <a:r>
              <a:rPr lang="fr-FR" altLang="ar-AE" sz="2400" b="1">
                <a:solidFill>
                  <a:schemeClr val="accent2"/>
                </a:solidFill>
              </a:rPr>
              <a:t> négligeable</a:t>
            </a:r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6914606" y="4450080"/>
            <a:ext cx="2819400" cy="495300"/>
          </a:xfrm>
          <a:prstGeom prst="rect">
            <a:avLst/>
          </a:prstGeom>
          <a:solidFill>
            <a:srgbClr val="CC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008000"/>
                </a:solidFill>
              </a:rPr>
              <a:t>AH</a:t>
            </a:r>
            <a:r>
              <a:rPr lang="fr-FR" altLang="ar-AE" sz="2400" b="1" baseline="-25000">
                <a:solidFill>
                  <a:srgbClr val="008000"/>
                </a:solidFill>
              </a:rPr>
              <a:t>2</a:t>
            </a:r>
            <a:r>
              <a:rPr lang="fr-FR" altLang="ar-AE" sz="2400" b="1">
                <a:solidFill>
                  <a:srgbClr val="008000"/>
                </a:solidFill>
              </a:rPr>
              <a:t> négligeable</a:t>
            </a:r>
            <a:endParaRPr lang="fr-FR" altLang="ar-AE" sz="2400" b="1">
              <a:solidFill>
                <a:schemeClr val="accent2"/>
              </a:solidFill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3942806" y="551688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FF0000"/>
                </a:solidFill>
              </a:rPr>
              <a:t>pKa</a:t>
            </a:r>
            <a:r>
              <a:rPr lang="fr-FR" altLang="ar-AE" sz="2400" b="1" baseline="-25000">
                <a:solidFill>
                  <a:srgbClr val="FF0000"/>
                </a:solidFill>
              </a:rPr>
              <a:t>1</a:t>
            </a:r>
            <a:endParaRPr lang="fr-FR" altLang="ar-AE" sz="2400" b="1">
              <a:solidFill>
                <a:srgbClr val="FF0000"/>
              </a:solidFill>
            </a:endParaRPr>
          </a:p>
        </p:txBody>
      </p:sp>
      <p:sp>
        <p:nvSpPr>
          <p:cNvPr id="34" name="Text Box 6"/>
          <p:cNvSpPr txBox="1">
            <a:spLocks noChangeArrowheads="1"/>
          </p:cNvSpPr>
          <p:nvPr/>
        </p:nvSpPr>
        <p:spPr bwMode="auto">
          <a:xfrm>
            <a:off x="6228806" y="551688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rgbClr val="FF0000"/>
                </a:solidFill>
              </a:rPr>
              <a:t>pKa</a:t>
            </a:r>
            <a:r>
              <a:rPr lang="fr-FR" altLang="ar-AE" sz="2400" b="1" baseline="-25000">
                <a:solidFill>
                  <a:srgbClr val="FF0000"/>
                </a:solidFill>
              </a:rPr>
              <a:t>2</a:t>
            </a:r>
            <a:endParaRPr lang="fr-FR" altLang="ar-AE" sz="2400" b="1">
              <a:solidFill>
                <a:srgbClr val="FF0000"/>
              </a:solidFill>
            </a:endParaRPr>
          </a:p>
        </p:txBody>
      </p:sp>
      <p:grpSp>
        <p:nvGrpSpPr>
          <p:cNvPr id="35" name="Group 7"/>
          <p:cNvGrpSpPr>
            <a:grpSpLocks/>
          </p:cNvGrpSpPr>
          <p:nvPr/>
        </p:nvGrpSpPr>
        <p:grpSpPr bwMode="auto">
          <a:xfrm>
            <a:off x="2799806" y="5059680"/>
            <a:ext cx="7467600" cy="609600"/>
            <a:chOff x="768" y="2784"/>
            <a:chExt cx="4704" cy="384"/>
          </a:xfrm>
        </p:grpSpPr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768" y="2784"/>
              <a:ext cx="408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37" name="Text Box 9"/>
            <p:cNvSpPr txBox="1">
              <a:spLocks noChangeArrowheads="1"/>
            </p:cNvSpPr>
            <p:nvPr/>
          </p:nvSpPr>
          <p:spPr bwMode="auto">
            <a:xfrm>
              <a:off x="4752" y="2880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fr-FR" altLang="ar-AE" sz="2400" b="1"/>
                <a:t>pH</a:t>
              </a:r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1920" y="278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>
              <a:off x="3360" y="278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</p:grpSp>
      <p:sp>
        <p:nvSpPr>
          <p:cNvPr id="40" name="Line 12"/>
          <p:cNvSpPr>
            <a:spLocks noChangeShapeType="1"/>
          </p:cNvSpPr>
          <p:nvPr/>
        </p:nvSpPr>
        <p:spPr bwMode="auto">
          <a:xfrm>
            <a:off x="5771606" y="505968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r-AE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1885406" y="3916680"/>
            <a:ext cx="2743200" cy="4953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chemeClr val="accent2"/>
                </a:solidFill>
              </a:rPr>
              <a:t>AH</a:t>
            </a:r>
            <a:r>
              <a:rPr lang="fr-FR" altLang="ar-AE" sz="2400" b="1" baseline="-25000">
                <a:solidFill>
                  <a:schemeClr val="accent2"/>
                </a:solidFill>
              </a:rPr>
              <a:t>2</a:t>
            </a:r>
            <a:r>
              <a:rPr lang="fr-FR" altLang="ar-AE" sz="2400" b="1">
                <a:solidFill>
                  <a:schemeClr val="accent2"/>
                </a:solidFill>
              </a:rPr>
              <a:t> prédomine</a:t>
            </a:r>
          </a:p>
        </p:txBody>
      </p:sp>
      <p:sp>
        <p:nvSpPr>
          <p:cNvPr id="42" name="Text Box 14"/>
          <p:cNvSpPr txBox="1">
            <a:spLocks noChangeArrowheads="1"/>
          </p:cNvSpPr>
          <p:nvPr/>
        </p:nvSpPr>
        <p:spPr bwMode="auto">
          <a:xfrm>
            <a:off x="6914606" y="3916680"/>
            <a:ext cx="2819400" cy="4953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400" b="1" dirty="0">
                <a:solidFill>
                  <a:srgbClr val="008000"/>
                </a:solidFill>
              </a:rPr>
              <a:t>A</a:t>
            </a:r>
            <a:r>
              <a:rPr lang="fr-FR" altLang="ar-AE" sz="2400" b="1" baseline="30000" dirty="0">
                <a:solidFill>
                  <a:srgbClr val="008000"/>
                </a:solidFill>
              </a:rPr>
              <a:t>2-</a:t>
            </a:r>
            <a:r>
              <a:rPr lang="fr-FR" altLang="ar-AE" sz="2400" b="1" dirty="0">
                <a:solidFill>
                  <a:srgbClr val="008000"/>
                </a:solidFill>
              </a:rPr>
              <a:t> prédomine</a:t>
            </a:r>
            <a:endParaRPr lang="fr-FR" altLang="ar-AE" sz="2400" b="1" dirty="0">
              <a:solidFill>
                <a:schemeClr val="accent2"/>
              </a:solidFill>
            </a:endParaRPr>
          </a:p>
        </p:txBody>
      </p:sp>
      <p:grpSp>
        <p:nvGrpSpPr>
          <p:cNvPr id="43" name="Group 15"/>
          <p:cNvGrpSpPr>
            <a:grpSpLocks/>
          </p:cNvGrpSpPr>
          <p:nvPr/>
        </p:nvGrpSpPr>
        <p:grpSpPr bwMode="auto">
          <a:xfrm>
            <a:off x="4628606" y="3916680"/>
            <a:ext cx="2286000" cy="1066800"/>
            <a:chOff x="1728" y="816"/>
            <a:chExt cx="1440" cy="672"/>
          </a:xfrm>
        </p:grpSpPr>
        <p:sp>
          <p:nvSpPr>
            <p:cNvPr id="44" name="Rectangle 16"/>
            <p:cNvSpPr>
              <a:spLocks noChangeArrowheads="1"/>
            </p:cNvSpPr>
            <p:nvPr/>
          </p:nvSpPr>
          <p:spPr bwMode="auto">
            <a:xfrm>
              <a:off x="1728" y="816"/>
              <a:ext cx="1440" cy="672"/>
            </a:xfrm>
            <a:prstGeom prst="rect">
              <a:avLst/>
            </a:prstGeom>
            <a:solidFill>
              <a:srgbClr val="FFCC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>
              <a:off x="1728" y="960"/>
              <a:ext cx="1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fr-FR" altLang="ar-AE" sz="2000" b="1"/>
                <a:t> </a:t>
              </a:r>
              <a:r>
                <a:rPr lang="fr-FR" altLang="ar-AE" sz="2000" b="1">
                  <a:solidFill>
                    <a:schemeClr val="accent2"/>
                  </a:solidFill>
                </a:rPr>
                <a:t>AH</a:t>
              </a:r>
              <a:r>
                <a:rPr lang="fr-FR" altLang="ar-AE" sz="2000" b="1" baseline="30000">
                  <a:solidFill>
                    <a:schemeClr val="accent2"/>
                  </a:solidFill>
                </a:rPr>
                <a:t>-</a:t>
              </a:r>
              <a:r>
                <a:rPr lang="fr-FR" altLang="ar-AE" sz="2000" b="1">
                  <a:solidFill>
                    <a:schemeClr val="accent2"/>
                  </a:solidFill>
                </a:rPr>
                <a:t> prédomine</a:t>
              </a:r>
              <a:endParaRPr lang="fr-FR" altLang="ar-AE" sz="2000" b="1"/>
            </a:p>
          </p:txBody>
        </p:sp>
      </p:grp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1885406" y="323088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u="sng" dirty="0">
                <a:solidFill>
                  <a:schemeClr val="accent2"/>
                </a:solidFill>
              </a:rPr>
              <a:t>Diagramme de prédominance</a:t>
            </a:r>
            <a:endParaRPr lang="fr-FR" altLang="ar-AE" sz="2400" b="1" dirty="0"/>
          </a:p>
        </p:txBody>
      </p:sp>
      <p:sp>
        <p:nvSpPr>
          <p:cNvPr id="48" name="Text Box 20"/>
          <p:cNvSpPr txBox="1">
            <a:spLocks noChangeArrowheads="1"/>
          </p:cNvSpPr>
          <p:nvPr/>
        </p:nvSpPr>
        <p:spPr bwMode="auto">
          <a:xfrm>
            <a:off x="704306" y="1976565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dirty="0">
                <a:solidFill>
                  <a:schemeClr val="accent2"/>
                </a:solidFill>
              </a:rPr>
              <a:t>Ampholyte AH</a:t>
            </a:r>
            <a:r>
              <a:rPr lang="fr-FR" altLang="ar-AE" sz="2400" b="1" baseline="30000" dirty="0">
                <a:solidFill>
                  <a:schemeClr val="accent2"/>
                </a:solidFill>
              </a:rPr>
              <a:t>-</a:t>
            </a:r>
            <a:endParaRPr lang="fr-FR" altLang="ar-AE" sz="2400" b="1" dirty="0">
              <a:solidFill>
                <a:schemeClr val="accent2"/>
              </a:solidFill>
            </a:endParaRPr>
          </a:p>
        </p:txBody>
      </p:sp>
      <p:sp>
        <p:nvSpPr>
          <p:cNvPr id="49" name="Text Box 21"/>
          <p:cNvSpPr txBox="1">
            <a:spLocks noChangeArrowheads="1"/>
          </p:cNvSpPr>
          <p:nvPr/>
        </p:nvSpPr>
        <p:spPr bwMode="auto">
          <a:xfrm>
            <a:off x="7105106" y="1927543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dirty="0">
                <a:solidFill>
                  <a:srgbClr val="FF0000"/>
                </a:solidFill>
              </a:rPr>
              <a:t>AH</a:t>
            </a:r>
            <a:r>
              <a:rPr lang="fr-FR" altLang="ar-AE" sz="2400" b="1" baseline="-25000" dirty="0">
                <a:solidFill>
                  <a:srgbClr val="FF0000"/>
                </a:solidFill>
              </a:rPr>
              <a:t>2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2</a:t>
            </a:r>
            <a:r>
              <a:rPr lang="fr-FR" altLang="ar-AE" sz="2400" b="1" dirty="0"/>
              <a:t>O = </a:t>
            </a:r>
            <a:r>
              <a:rPr lang="fr-FR" altLang="ar-AE" sz="2400" b="1" dirty="0">
                <a:solidFill>
                  <a:srgbClr val="008000"/>
                </a:solidFill>
              </a:rPr>
              <a:t>AH</a:t>
            </a:r>
            <a:r>
              <a:rPr lang="fr-FR" altLang="ar-AE" sz="2400" b="1" baseline="30000" dirty="0">
                <a:solidFill>
                  <a:srgbClr val="008000"/>
                </a:solidFill>
              </a:rPr>
              <a:t>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3</a:t>
            </a:r>
            <a:r>
              <a:rPr lang="fr-FR" altLang="ar-AE" sz="2400" b="1" dirty="0"/>
              <a:t>O</a:t>
            </a:r>
            <a:r>
              <a:rPr lang="fr-FR" altLang="ar-AE" sz="2400" b="1" baseline="30000" dirty="0"/>
              <a:t>+</a:t>
            </a:r>
            <a:endParaRPr lang="fr-FR" altLang="ar-AE" sz="2400" b="1" dirty="0"/>
          </a:p>
        </p:txBody>
      </p:sp>
      <p:sp>
        <p:nvSpPr>
          <p:cNvPr id="50" name="Text Box 22"/>
          <p:cNvSpPr txBox="1">
            <a:spLocks noChangeArrowheads="1"/>
          </p:cNvSpPr>
          <p:nvPr/>
        </p:nvSpPr>
        <p:spPr bwMode="auto">
          <a:xfrm>
            <a:off x="7105106" y="2994343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 dirty="0">
                <a:solidFill>
                  <a:srgbClr val="008000"/>
                </a:solidFill>
              </a:rPr>
              <a:t>AH</a:t>
            </a:r>
            <a:r>
              <a:rPr lang="fr-FR" altLang="ar-AE" sz="2400" b="1" baseline="30000" dirty="0">
                <a:solidFill>
                  <a:srgbClr val="008000"/>
                </a:solidFill>
              </a:rPr>
              <a:t>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2</a:t>
            </a:r>
            <a:r>
              <a:rPr lang="fr-FR" altLang="ar-AE" sz="2400" b="1" dirty="0"/>
              <a:t>O = A</a:t>
            </a:r>
            <a:r>
              <a:rPr lang="fr-FR" altLang="ar-AE" sz="2400" b="1" baseline="30000" dirty="0"/>
              <a:t>2-</a:t>
            </a:r>
            <a:r>
              <a:rPr lang="fr-FR" altLang="ar-AE" sz="2400" b="1" dirty="0"/>
              <a:t> + H</a:t>
            </a:r>
            <a:r>
              <a:rPr lang="fr-FR" altLang="ar-AE" sz="2400" b="1" baseline="-25000" dirty="0"/>
              <a:t>3</a:t>
            </a:r>
            <a:r>
              <a:rPr lang="fr-FR" altLang="ar-AE" sz="2400" b="1" dirty="0"/>
              <a:t>O</a:t>
            </a:r>
            <a:r>
              <a:rPr lang="fr-FR" altLang="ar-AE" sz="2400" b="1" baseline="30000" dirty="0"/>
              <a:t>+</a:t>
            </a:r>
            <a:endParaRPr lang="fr-FR" altLang="ar-AE" sz="2400" b="1" dirty="0"/>
          </a:p>
        </p:txBody>
      </p:sp>
      <p:sp>
        <p:nvSpPr>
          <p:cNvPr id="51" name="Text Box 23"/>
          <p:cNvSpPr txBox="1">
            <a:spLocks noChangeArrowheads="1"/>
          </p:cNvSpPr>
          <p:nvPr/>
        </p:nvSpPr>
        <p:spPr bwMode="auto">
          <a:xfrm>
            <a:off x="8933906" y="2384743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rgbClr val="008000"/>
                </a:solidFill>
              </a:rPr>
              <a:t>base</a:t>
            </a: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7028906" y="3451543"/>
            <a:ext cx="106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rgbClr val="008000"/>
                </a:solidFill>
              </a:rPr>
              <a:t>acide</a:t>
            </a:r>
            <a:endParaRPr lang="fr-FR" altLang="ar-AE" sz="2000" b="1">
              <a:solidFill>
                <a:srgbClr val="FF0000"/>
              </a:solidFill>
            </a:endParaRPr>
          </a:p>
        </p:txBody>
      </p:sp>
      <p:sp>
        <p:nvSpPr>
          <p:cNvPr id="53" name="Text Box 25"/>
          <p:cNvSpPr txBox="1">
            <a:spLocks noChangeArrowheads="1"/>
          </p:cNvSpPr>
          <p:nvPr/>
        </p:nvSpPr>
        <p:spPr bwMode="auto">
          <a:xfrm>
            <a:off x="10915106" y="192754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pKa</a:t>
            </a:r>
            <a:r>
              <a:rPr lang="fr-FR" altLang="ar-AE" sz="2400" b="1" baseline="-25000"/>
              <a:t>1</a:t>
            </a:r>
            <a:endParaRPr lang="fr-FR" altLang="ar-AE" sz="2400" b="1"/>
          </a:p>
        </p:txBody>
      </p:sp>
      <p:sp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10915106" y="307054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pKa</a:t>
            </a:r>
            <a:r>
              <a:rPr lang="fr-FR" altLang="ar-AE" sz="2400" b="1" baseline="-25000"/>
              <a:t>2</a:t>
            </a:r>
            <a:endParaRPr lang="fr-FR" altLang="ar-AE" sz="2400" b="1"/>
          </a:p>
        </p:txBody>
      </p:sp>
    </p:spTree>
    <p:extLst>
      <p:ext uri="{BB962C8B-B14F-4D97-AF65-F5344CB8AC3E}">
        <p14:creationId xmlns:p14="http://schemas.microsoft.com/office/powerpoint/2010/main" val="65750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achine à écr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utoUpdateAnimBg="0"/>
      <p:bldP spid="31" grpId="0" animBg="1" autoUpdateAnimBg="0"/>
      <p:bldP spid="32" grpId="0" animBg="1" autoUpdateAnimBg="0"/>
      <p:bldP spid="33" grpId="0" build="p" autoUpdateAnimBg="0"/>
      <p:bldP spid="34" grpId="0" build="p" autoUpdateAnimBg="0"/>
      <p:bldP spid="41" grpId="0" animBg="1" autoUpdateAnimBg="0"/>
      <p:bldP spid="42" grpId="0" animBg="1" autoUpdateAnimBg="0"/>
      <p:bldP spid="46" grpId="0" build="p" autoUpdateAnimBg="0"/>
      <p:bldP spid="48" grpId="0" build="p" autoUpdateAnimBg="0"/>
      <p:bldP spid="49" grpId="0" build="p" autoUpdateAnimBg="0"/>
      <p:bldP spid="50" grpId="0" build="p" autoUpdateAnimBg="0"/>
      <p:bldP spid="51" grpId="0" build="p" autoUpdateAnimBg="0"/>
      <p:bldP spid="52" grpId="0" build="p" autoUpdateAnimBg="0"/>
      <p:bldP spid="53" grpId="0" build="p" autoUpdateAnimBg="0"/>
      <p:bldP spid="54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524000" y="381001"/>
            <a:ext cx="914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chemeClr val="accent2"/>
                </a:solidFill>
              </a:rPr>
              <a:t>Calcul des concentrations de chaque espèce en fonction du pH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524000" y="11430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pH = pKa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+ log { 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/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 } = pKa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+ log R</a:t>
            </a:r>
            <a:r>
              <a:rPr lang="fr-FR" altLang="ar-AE" sz="2400" b="1" baseline="-25000"/>
              <a:t>1</a:t>
            </a:r>
            <a:endParaRPr lang="fr-FR" altLang="ar-AE" sz="2400" b="1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524000" y="18288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pH = pKa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+ log { [A</a:t>
            </a:r>
            <a:r>
              <a:rPr lang="fr-FR" altLang="ar-AE" sz="2400" b="1" baseline="30000"/>
              <a:t>2-</a:t>
            </a:r>
            <a:r>
              <a:rPr lang="fr-FR" altLang="ar-AE" sz="2400" b="1"/>
              <a:t>] / 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} = pKa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+ log R</a:t>
            </a:r>
            <a:r>
              <a:rPr lang="fr-FR" altLang="ar-AE" sz="2400" b="1" baseline="-25000"/>
              <a:t>2</a:t>
            </a:r>
            <a:endParaRPr lang="fr-FR" altLang="ar-AE" sz="2400" b="1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524000" y="24384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/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 =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= 10</a:t>
            </a:r>
            <a:r>
              <a:rPr lang="fr-FR" altLang="ar-AE" sz="2400" b="1" baseline="30000"/>
              <a:t>( pH - pKa1)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524000" y="29718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[A</a:t>
            </a:r>
            <a:r>
              <a:rPr lang="fr-FR" altLang="ar-AE" sz="2400" b="1" baseline="30000"/>
              <a:t>2-</a:t>
            </a:r>
            <a:r>
              <a:rPr lang="fr-FR" altLang="ar-AE" sz="2400" b="1"/>
              <a:t>] / 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= R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= 10</a:t>
            </a:r>
            <a:r>
              <a:rPr lang="fr-FR" altLang="ar-AE" sz="2400" b="1" baseline="30000"/>
              <a:t>( pH - pKa2)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1524000" y="34290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 =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</a:t>
            </a:r>
            <a:endParaRPr lang="fr-FR" altLang="ar-AE" sz="2400" b="1" baseline="30000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5181600" y="34290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[A</a:t>
            </a:r>
            <a:r>
              <a:rPr lang="fr-FR" altLang="ar-AE" sz="2400" b="1" baseline="30000"/>
              <a:t>2-</a:t>
            </a:r>
            <a:r>
              <a:rPr lang="fr-FR" altLang="ar-AE" sz="2400" b="1"/>
              <a:t>]  = R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=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R</a:t>
            </a:r>
            <a:r>
              <a:rPr lang="fr-FR" altLang="ar-AE" sz="2400" b="1" baseline="-25000"/>
              <a:t>2 </a:t>
            </a:r>
            <a:r>
              <a:rPr lang="fr-FR" altLang="ar-AE" sz="2400" b="1"/>
              <a:t>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1524000" y="4114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]+ [AH</a:t>
            </a:r>
            <a:r>
              <a:rPr lang="fr-FR" altLang="ar-AE" sz="2400" b="1" baseline="30000"/>
              <a:t>-</a:t>
            </a:r>
            <a:r>
              <a:rPr lang="fr-FR" altLang="ar-AE" sz="2400" b="1"/>
              <a:t>] + [A</a:t>
            </a:r>
            <a:r>
              <a:rPr lang="fr-FR" altLang="ar-AE" sz="2400" b="1" baseline="30000"/>
              <a:t>2-</a:t>
            </a:r>
            <a:r>
              <a:rPr lang="fr-FR" altLang="ar-AE" sz="2400" b="1"/>
              <a:t>] = C</a:t>
            </a: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1524000" y="47244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</a:t>
            </a:r>
            <a:r>
              <a:rPr lang="fr-FR" altLang="ar-AE" sz="2400" b="1" baseline="30000"/>
              <a:t> </a:t>
            </a:r>
            <a:r>
              <a:rPr lang="fr-FR" altLang="ar-AE" sz="2400" b="1"/>
              <a:t>+</a:t>
            </a:r>
            <a:r>
              <a:rPr lang="fr-FR" altLang="ar-AE" sz="2400" b="1" baseline="30000"/>
              <a:t> </a:t>
            </a:r>
            <a:r>
              <a:rPr lang="fr-FR" altLang="ar-AE" sz="2400" b="1"/>
              <a:t>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 +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R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 = C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1524000" y="55626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/>
              <a:t> [AH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]</a:t>
            </a:r>
            <a:r>
              <a:rPr lang="fr-FR" altLang="ar-AE" sz="2400" b="1" baseline="30000"/>
              <a:t> </a:t>
            </a:r>
            <a:r>
              <a:rPr lang="fr-FR" altLang="ar-AE" sz="2400" b="1"/>
              <a:t>= C / ( 1  +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 + R</a:t>
            </a:r>
            <a:r>
              <a:rPr lang="fr-FR" altLang="ar-AE" sz="2400" b="1" baseline="-25000"/>
              <a:t>1</a:t>
            </a:r>
            <a:r>
              <a:rPr lang="fr-FR" altLang="ar-AE" sz="2400" b="1"/>
              <a:t>R</a:t>
            </a:r>
            <a:r>
              <a:rPr lang="fr-FR" altLang="ar-AE" sz="2400" b="1" baseline="-25000"/>
              <a:t>2</a:t>
            </a:r>
            <a:r>
              <a:rPr lang="fr-FR" altLang="ar-AE" sz="2400" b="1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22387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uild="p" autoUpdateAnimBg="0"/>
      <p:bldP spid="5123" grpId="0" build="p" autoUpdateAnimBg="0"/>
      <p:bldP spid="5124" grpId="0" build="p" autoUpdateAnimBg="0"/>
      <p:bldP spid="5125" grpId="0" build="p" autoUpdateAnimBg="0"/>
      <p:bldP spid="5126" grpId="0" build="p" autoUpdateAnimBg="0"/>
      <p:bldP spid="5127" grpId="0" build="p" autoUpdateAnimBg="0"/>
      <p:bldP spid="5128" grpId="0" build="p" autoUpdateAnimBg="0"/>
      <p:bldP spid="5129" grpId="0" build="p" autoUpdateAnimBg="0"/>
      <p:bldP spid="5130" grpId="0" build="p" autoUpdateAnimBg="0"/>
      <p:bldP spid="5131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5715000" y="2895600"/>
            <a:ext cx="4953000" cy="3352800"/>
            <a:chOff x="2755" y="1918"/>
            <a:chExt cx="2949" cy="1902"/>
          </a:xfrm>
        </p:grpSpPr>
        <p:sp>
          <p:nvSpPr>
            <p:cNvPr id="6147" name="Rectangle 3"/>
            <p:cNvSpPr>
              <a:spLocks noChangeArrowheads="1"/>
            </p:cNvSpPr>
            <p:nvPr/>
          </p:nvSpPr>
          <p:spPr bwMode="auto">
            <a:xfrm>
              <a:off x="2755" y="1918"/>
              <a:ext cx="2949" cy="1902"/>
            </a:xfrm>
            <a:prstGeom prst="rect">
              <a:avLst/>
            </a:prstGeom>
            <a:solidFill>
              <a:srgbClr val="CC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ar-AE"/>
            </a:p>
          </p:txBody>
        </p:sp>
        <p:sp>
          <p:nvSpPr>
            <p:cNvPr id="6148" name="Rectangle 4"/>
            <p:cNvSpPr>
              <a:spLocks noChangeArrowheads="1"/>
            </p:cNvSpPr>
            <p:nvPr/>
          </p:nvSpPr>
          <p:spPr bwMode="auto">
            <a:xfrm>
              <a:off x="3154" y="2113"/>
              <a:ext cx="2383" cy="132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49" name="Line 5"/>
            <p:cNvSpPr>
              <a:spLocks noChangeShapeType="1"/>
            </p:cNvSpPr>
            <p:nvPr/>
          </p:nvSpPr>
          <p:spPr bwMode="auto">
            <a:xfrm>
              <a:off x="3154" y="3170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0" name="Line 6"/>
            <p:cNvSpPr>
              <a:spLocks noChangeShapeType="1"/>
            </p:cNvSpPr>
            <p:nvPr/>
          </p:nvSpPr>
          <p:spPr bwMode="auto">
            <a:xfrm>
              <a:off x="3154" y="2911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1" name="Line 7"/>
            <p:cNvSpPr>
              <a:spLocks noChangeShapeType="1"/>
            </p:cNvSpPr>
            <p:nvPr/>
          </p:nvSpPr>
          <p:spPr bwMode="auto">
            <a:xfrm>
              <a:off x="3154" y="2642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>
              <a:off x="3154" y="2382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3154" y="2113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3154" y="2113"/>
              <a:ext cx="2383" cy="1326"/>
            </a:xfrm>
            <a:prstGeom prst="rect">
              <a:avLst/>
            </a:prstGeom>
            <a:noFill/>
            <a:ln w="14288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>
              <a:off x="3154" y="2113"/>
              <a:ext cx="1" cy="13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>
              <a:off x="3117" y="3439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>
              <a:off x="3117" y="3170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3117" y="2911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3117" y="2642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3117" y="2382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3117" y="2113"/>
              <a:ext cx="3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2" name="Line 18"/>
            <p:cNvSpPr>
              <a:spLocks noChangeShapeType="1"/>
            </p:cNvSpPr>
            <p:nvPr/>
          </p:nvSpPr>
          <p:spPr bwMode="auto">
            <a:xfrm>
              <a:off x="3154" y="3439"/>
              <a:ext cx="23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 flipV="1">
              <a:off x="3154" y="3439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 flipV="1">
              <a:off x="3748" y="3439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5" name="Line 21"/>
            <p:cNvSpPr>
              <a:spLocks noChangeShapeType="1"/>
            </p:cNvSpPr>
            <p:nvPr/>
          </p:nvSpPr>
          <p:spPr bwMode="auto">
            <a:xfrm flipV="1">
              <a:off x="4350" y="3439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 flipV="1">
              <a:off x="4944" y="3439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7" name="Line 23"/>
            <p:cNvSpPr>
              <a:spLocks noChangeShapeType="1"/>
            </p:cNvSpPr>
            <p:nvPr/>
          </p:nvSpPr>
          <p:spPr bwMode="auto">
            <a:xfrm flipV="1">
              <a:off x="5537" y="3439"/>
              <a:ext cx="1" cy="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8" name="Freeform 24"/>
            <p:cNvSpPr>
              <a:spLocks/>
            </p:cNvSpPr>
            <p:nvPr/>
          </p:nvSpPr>
          <p:spPr bwMode="auto">
            <a:xfrm>
              <a:off x="3154" y="2122"/>
              <a:ext cx="297" cy="112"/>
            </a:xfrm>
            <a:custGeom>
              <a:avLst/>
              <a:gdLst>
                <a:gd name="T0" fmla="*/ 0 w 297"/>
                <a:gd name="T1" fmla="*/ 0 h 112"/>
                <a:gd name="T2" fmla="*/ 74 w 297"/>
                <a:gd name="T3" fmla="*/ 10 h 112"/>
                <a:gd name="T4" fmla="*/ 149 w 297"/>
                <a:gd name="T5" fmla="*/ 19 h 112"/>
                <a:gd name="T6" fmla="*/ 186 w 297"/>
                <a:gd name="T7" fmla="*/ 38 h 112"/>
                <a:gd name="T8" fmla="*/ 223 w 297"/>
                <a:gd name="T9" fmla="*/ 47 h 112"/>
                <a:gd name="T10" fmla="*/ 260 w 297"/>
                <a:gd name="T11" fmla="*/ 75 h 112"/>
                <a:gd name="T12" fmla="*/ 297 w 297"/>
                <a:gd name="T1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112">
                  <a:moveTo>
                    <a:pt x="0" y="0"/>
                  </a:moveTo>
                  <a:lnTo>
                    <a:pt x="74" y="10"/>
                  </a:lnTo>
                  <a:lnTo>
                    <a:pt x="149" y="19"/>
                  </a:lnTo>
                  <a:lnTo>
                    <a:pt x="186" y="38"/>
                  </a:lnTo>
                  <a:lnTo>
                    <a:pt x="223" y="47"/>
                  </a:lnTo>
                  <a:lnTo>
                    <a:pt x="260" y="75"/>
                  </a:lnTo>
                  <a:lnTo>
                    <a:pt x="297" y="112"/>
                  </a:lnTo>
                </a:path>
              </a:pathLst>
            </a:custGeom>
            <a:noFill/>
            <a:ln w="30163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69" name="Freeform 25"/>
            <p:cNvSpPr>
              <a:spLocks/>
            </p:cNvSpPr>
            <p:nvPr/>
          </p:nvSpPr>
          <p:spPr bwMode="auto">
            <a:xfrm>
              <a:off x="3451" y="2234"/>
              <a:ext cx="297" cy="547"/>
            </a:xfrm>
            <a:custGeom>
              <a:avLst/>
              <a:gdLst>
                <a:gd name="T0" fmla="*/ 0 w 297"/>
                <a:gd name="T1" fmla="*/ 0 h 547"/>
                <a:gd name="T2" fmla="*/ 37 w 297"/>
                <a:gd name="T3" fmla="*/ 46 h 547"/>
                <a:gd name="T4" fmla="*/ 74 w 297"/>
                <a:gd name="T5" fmla="*/ 102 h 547"/>
                <a:gd name="T6" fmla="*/ 111 w 297"/>
                <a:gd name="T7" fmla="*/ 176 h 547"/>
                <a:gd name="T8" fmla="*/ 148 w 297"/>
                <a:gd name="T9" fmla="*/ 250 h 547"/>
                <a:gd name="T10" fmla="*/ 222 w 297"/>
                <a:gd name="T11" fmla="*/ 399 h 547"/>
                <a:gd name="T12" fmla="*/ 260 w 297"/>
                <a:gd name="T13" fmla="*/ 473 h 547"/>
                <a:gd name="T14" fmla="*/ 297 w 297"/>
                <a:gd name="T15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7" h="547">
                  <a:moveTo>
                    <a:pt x="0" y="0"/>
                  </a:moveTo>
                  <a:lnTo>
                    <a:pt x="37" y="46"/>
                  </a:lnTo>
                  <a:lnTo>
                    <a:pt x="74" y="102"/>
                  </a:lnTo>
                  <a:lnTo>
                    <a:pt x="111" y="176"/>
                  </a:lnTo>
                  <a:lnTo>
                    <a:pt x="148" y="250"/>
                  </a:lnTo>
                  <a:lnTo>
                    <a:pt x="222" y="399"/>
                  </a:lnTo>
                  <a:lnTo>
                    <a:pt x="260" y="473"/>
                  </a:lnTo>
                  <a:lnTo>
                    <a:pt x="297" y="547"/>
                  </a:lnTo>
                </a:path>
              </a:pathLst>
            </a:custGeom>
            <a:noFill/>
            <a:ln w="30163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0" name="Freeform 26"/>
            <p:cNvSpPr>
              <a:spLocks/>
            </p:cNvSpPr>
            <p:nvPr/>
          </p:nvSpPr>
          <p:spPr bwMode="auto">
            <a:xfrm>
              <a:off x="3748" y="2781"/>
              <a:ext cx="296" cy="538"/>
            </a:xfrm>
            <a:custGeom>
              <a:avLst/>
              <a:gdLst>
                <a:gd name="T0" fmla="*/ 0 w 296"/>
                <a:gd name="T1" fmla="*/ 0 h 538"/>
                <a:gd name="T2" fmla="*/ 74 w 296"/>
                <a:gd name="T3" fmla="*/ 148 h 538"/>
                <a:gd name="T4" fmla="*/ 148 w 296"/>
                <a:gd name="T5" fmla="*/ 297 h 538"/>
                <a:gd name="T6" fmla="*/ 185 w 296"/>
                <a:gd name="T7" fmla="*/ 371 h 538"/>
                <a:gd name="T8" fmla="*/ 222 w 296"/>
                <a:gd name="T9" fmla="*/ 436 h 538"/>
                <a:gd name="T10" fmla="*/ 259 w 296"/>
                <a:gd name="T11" fmla="*/ 491 h 538"/>
                <a:gd name="T12" fmla="*/ 296 w 296"/>
                <a:gd name="T13" fmla="*/ 538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538">
                  <a:moveTo>
                    <a:pt x="0" y="0"/>
                  </a:moveTo>
                  <a:lnTo>
                    <a:pt x="74" y="148"/>
                  </a:lnTo>
                  <a:lnTo>
                    <a:pt x="148" y="297"/>
                  </a:lnTo>
                  <a:lnTo>
                    <a:pt x="185" y="371"/>
                  </a:lnTo>
                  <a:lnTo>
                    <a:pt x="222" y="436"/>
                  </a:lnTo>
                  <a:lnTo>
                    <a:pt x="259" y="491"/>
                  </a:lnTo>
                  <a:lnTo>
                    <a:pt x="296" y="538"/>
                  </a:lnTo>
                </a:path>
              </a:pathLst>
            </a:custGeom>
            <a:noFill/>
            <a:ln w="30163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1" name="Freeform 27"/>
            <p:cNvSpPr>
              <a:spLocks/>
            </p:cNvSpPr>
            <p:nvPr/>
          </p:nvSpPr>
          <p:spPr bwMode="auto">
            <a:xfrm>
              <a:off x="4044" y="3319"/>
              <a:ext cx="306" cy="111"/>
            </a:xfrm>
            <a:custGeom>
              <a:avLst/>
              <a:gdLst>
                <a:gd name="T0" fmla="*/ 0 w 306"/>
                <a:gd name="T1" fmla="*/ 0 h 111"/>
                <a:gd name="T2" fmla="*/ 37 w 306"/>
                <a:gd name="T3" fmla="*/ 37 h 111"/>
                <a:gd name="T4" fmla="*/ 75 w 306"/>
                <a:gd name="T5" fmla="*/ 55 h 111"/>
                <a:gd name="T6" fmla="*/ 112 w 306"/>
                <a:gd name="T7" fmla="*/ 74 h 111"/>
                <a:gd name="T8" fmla="*/ 149 w 306"/>
                <a:gd name="T9" fmla="*/ 93 h 111"/>
                <a:gd name="T10" fmla="*/ 232 w 306"/>
                <a:gd name="T11" fmla="*/ 102 h 111"/>
                <a:gd name="T12" fmla="*/ 306 w 306"/>
                <a:gd name="T1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11">
                  <a:moveTo>
                    <a:pt x="0" y="0"/>
                  </a:moveTo>
                  <a:lnTo>
                    <a:pt x="37" y="37"/>
                  </a:lnTo>
                  <a:lnTo>
                    <a:pt x="75" y="55"/>
                  </a:lnTo>
                  <a:lnTo>
                    <a:pt x="112" y="74"/>
                  </a:lnTo>
                  <a:lnTo>
                    <a:pt x="149" y="93"/>
                  </a:lnTo>
                  <a:lnTo>
                    <a:pt x="232" y="102"/>
                  </a:lnTo>
                  <a:lnTo>
                    <a:pt x="306" y="111"/>
                  </a:lnTo>
                </a:path>
              </a:pathLst>
            </a:custGeom>
            <a:noFill/>
            <a:ln w="30163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2" name="Freeform 28"/>
            <p:cNvSpPr>
              <a:spLocks/>
            </p:cNvSpPr>
            <p:nvPr/>
          </p:nvSpPr>
          <p:spPr bwMode="auto">
            <a:xfrm>
              <a:off x="4350" y="3430"/>
              <a:ext cx="297" cy="9"/>
            </a:xfrm>
            <a:custGeom>
              <a:avLst/>
              <a:gdLst>
                <a:gd name="T0" fmla="*/ 0 w 297"/>
                <a:gd name="T1" fmla="*/ 0 h 9"/>
                <a:gd name="T2" fmla="*/ 75 w 297"/>
                <a:gd name="T3" fmla="*/ 9 h 9"/>
                <a:gd name="T4" fmla="*/ 149 w 297"/>
                <a:gd name="T5" fmla="*/ 9 h 9"/>
                <a:gd name="T6" fmla="*/ 297 w 297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7" h="9">
                  <a:moveTo>
                    <a:pt x="0" y="0"/>
                  </a:moveTo>
                  <a:lnTo>
                    <a:pt x="75" y="9"/>
                  </a:lnTo>
                  <a:lnTo>
                    <a:pt x="149" y="9"/>
                  </a:lnTo>
                  <a:lnTo>
                    <a:pt x="297" y="9"/>
                  </a:lnTo>
                </a:path>
              </a:pathLst>
            </a:custGeom>
            <a:noFill/>
            <a:ln w="30163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3" name="Line 29"/>
            <p:cNvSpPr>
              <a:spLocks noChangeShapeType="1"/>
            </p:cNvSpPr>
            <p:nvPr/>
          </p:nvSpPr>
          <p:spPr bwMode="auto">
            <a:xfrm>
              <a:off x="4647" y="3439"/>
              <a:ext cx="297" cy="1"/>
            </a:xfrm>
            <a:prstGeom prst="line">
              <a:avLst/>
            </a:prstGeom>
            <a:noFill/>
            <a:ln w="3016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4" name="Line 30"/>
            <p:cNvSpPr>
              <a:spLocks noChangeShapeType="1"/>
            </p:cNvSpPr>
            <p:nvPr/>
          </p:nvSpPr>
          <p:spPr bwMode="auto">
            <a:xfrm>
              <a:off x="4944" y="3439"/>
              <a:ext cx="297" cy="1"/>
            </a:xfrm>
            <a:prstGeom prst="line">
              <a:avLst/>
            </a:prstGeom>
            <a:noFill/>
            <a:ln w="3016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5" name="Line 31"/>
            <p:cNvSpPr>
              <a:spLocks noChangeShapeType="1"/>
            </p:cNvSpPr>
            <p:nvPr/>
          </p:nvSpPr>
          <p:spPr bwMode="auto">
            <a:xfrm>
              <a:off x="5241" y="3439"/>
              <a:ext cx="296" cy="1"/>
            </a:xfrm>
            <a:prstGeom prst="line">
              <a:avLst/>
            </a:prstGeom>
            <a:noFill/>
            <a:ln w="3016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6" name="Freeform 32"/>
            <p:cNvSpPr>
              <a:spLocks/>
            </p:cNvSpPr>
            <p:nvPr/>
          </p:nvSpPr>
          <p:spPr bwMode="auto">
            <a:xfrm>
              <a:off x="3154" y="3319"/>
              <a:ext cx="297" cy="111"/>
            </a:xfrm>
            <a:custGeom>
              <a:avLst/>
              <a:gdLst>
                <a:gd name="T0" fmla="*/ 0 w 297"/>
                <a:gd name="T1" fmla="*/ 111 h 111"/>
                <a:gd name="T2" fmla="*/ 74 w 297"/>
                <a:gd name="T3" fmla="*/ 102 h 111"/>
                <a:gd name="T4" fmla="*/ 149 w 297"/>
                <a:gd name="T5" fmla="*/ 93 h 111"/>
                <a:gd name="T6" fmla="*/ 186 w 297"/>
                <a:gd name="T7" fmla="*/ 74 h 111"/>
                <a:gd name="T8" fmla="*/ 223 w 297"/>
                <a:gd name="T9" fmla="*/ 55 h 111"/>
                <a:gd name="T10" fmla="*/ 260 w 297"/>
                <a:gd name="T11" fmla="*/ 37 h 111"/>
                <a:gd name="T12" fmla="*/ 297 w 297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111">
                  <a:moveTo>
                    <a:pt x="0" y="111"/>
                  </a:moveTo>
                  <a:lnTo>
                    <a:pt x="74" y="102"/>
                  </a:lnTo>
                  <a:lnTo>
                    <a:pt x="149" y="93"/>
                  </a:lnTo>
                  <a:lnTo>
                    <a:pt x="186" y="74"/>
                  </a:lnTo>
                  <a:lnTo>
                    <a:pt x="223" y="55"/>
                  </a:lnTo>
                  <a:lnTo>
                    <a:pt x="260" y="37"/>
                  </a:lnTo>
                  <a:lnTo>
                    <a:pt x="297" y="0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7" name="Freeform 33"/>
            <p:cNvSpPr>
              <a:spLocks/>
            </p:cNvSpPr>
            <p:nvPr/>
          </p:nvSpPr>
          <p:spPr bwMode="auto">
            <a:xfrm>
              <a:off x="3451" y="2781"/>
              <a:ext cx="297" cy="538"/>
            </a:xfrm>
            <a:custGeom>
              <a:avLst/>
              <a:gdLst>
                <a:gd name="T0" fmla="*/ 0 w 297"/>
                <a:gd name="T1" fmla="*/ 538 h 538"/>
                <a:gd name="T2" fmla="*/ 37 w 297"/>
                <a:gd name="T3" fmla="*/ 491 h 538"/>
                <a:gd name="T4" fmla="*/ 74 w 297"/>
                <a:gd name="T5" fmla="*/ 436 h 538"/>
                <a:gd name="T6" fmla="*/ 111 w 297"/>
                <a:gd name="T7" fmla="*/ 371 h 538"/>
                <a:gd name="T8" fmla="*/ 148 w 297"/>
                <a:gd name="T9" fmla="*/ 297 h 538"/>
                <a:gd name="T10" fmla="*/ 222 w 297"/>
                <a:gd name="T11" fmla="*/ 148 h 538"/>
                <a:gd name="T12" fmla="*/ 297 w 297"/>
                <a:gd name="T13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538">
                  <a:moveTo>
                    <a:pt x="0" y="538"/>
                  </a:moveTo>
                  <a:lnTo>
                    <a:pt x="37" y="491"/>
                  </a:lnTo>
                  <a:lnTo>
                    <a:pt x="74" y="436"/>
                  </a:lnTo>
                  <a:lnTo>
                    <a:pt x="111" y="371"/>
                  </a:lnTo>
                  <a:lnTo>
                    <a:pt x="148" y="297"/>
                  </a:lnTo>
                  <a:lnTo>
                    <a:pt x="222" y="148"/>
                  </a:lnTo>
                  <a:lnTo>
                    <a:pt x="297" y="0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8" name="Freeform 34"/>
            <p:cNvSpPr>
              <a:spLocks/>
            </p:cNvSpPr>
            <p:nvPr/>
          </p:nvSpPr>
          <p:spPr bwMode="auto">
            <a:xfrm>
              <a:off x="3748" y="2234"/>
              <a:ext cx="296" cy="547"/>
            </a:xfrm>
            <a:custGeom>
              <a:avLst/>
              <a:gdLst>
                <a:gd name="T0" fmla="*/ 0 w 296"/>
                <a:gd name="T1" fmla="*/ 547 h 547"/>
                <a:gd name="T2" fmla="*/ 37 w 296"/>
                <a:gd name="T3" fmla="*/ 473 h 547"/>
                <a:gd name="T4" fmla="*/ 74 w 296"/>
                <a:gd name="T5" fmla="*/ 399 h 547"/>
                <a:gd name="T6" fmla="*/ 148 w 296"/>
                <a:gd name="T7" fmla="*/ 241 h 547"/>
                <a:gd name="T8" fmla="*/ 185 w 296"/>
                <a:gd name="T9" fmla="*/ 176 h 547"/>
                <a:gd name="T10" fmla="*/ 222 w 296"/>
                <a:gd name="T11" fmla="*/ 102 h 547"/>
                <a:gd name="T12" fmla="*/ 259 w 296"/>
                <a:gd name="T13" fmla="*/ 46 h 547"/>
                <a:gd name="T14" fmla="*/ 296 w 296"/>
                <a:gd name="T15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6" h="547">
                  <a:moveTo>
                    <a:pt x="0" y="547"/>
                  </a:moveTo>
                  <a:lnTo>
                    <a:pt x="37" y="473"/>
                  </a:lnTo>
                  <a:lnTo>
                    <a:pt x="74" y="399"/>
                  </a:lnTo>
                  <a:lnTo>
                    <a:pt x="148" y="241"/>
                  </a:lnTo>
                  <a:lnTo>
                    <a:pt x="185" y="176"/>
                  </a:lnTo>
                  <a:lnTo>
                    <a:pt x="222" y="102"/>
                  </a:lnTo>
                  <a:lnTo>
                    <a:pt x="259" y="46"/>
                  </a:lnTo>
                  <a:lnTo>
                    <a:pt x="296" y="0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79" name="Freeform 35"/>
            <p:cNvSpPr>
              <a:spLocks/>
            </p:cNvSpPr>
            <p:nvPr/>
          </p:nvSpPr>
          <p:spPr bwMode="auto">
            <a:xfrm>
              <a:off x="4044" y="2141"/>
              <a:ext cx="306" cy="93"/>
            </a:xfrm>
            <a:custGeom>
              <a:avLst/>
              <a:gdLst>
                <a:gd name="T0" fmla="*/ 0 w 306"/>
                <a:gd name="T1" fmla="*/ 93 h 93"/>
                <a:gd name="T2" fmla="*/ 37 w 306"/>
                <a:gd name="T3" fmla="*/ 56 h 93"/>
                <a:gd name="T4" fmla="*/ 75 w 306"/>
                <a:gd name="T5" fmla="*/ 37 h 93"/>
                <a:gd name="T6" fmla="*/ 112 w 306"/>
                <a:gd name="T7" fmla="*/ 19 h 93"/>
                <a:gd name="T8" fmla="*/ 149 w 306"/>
                <a:gd name="T9" fmla="*/ 9 h 93"/>
                <a:gd name="T10" fmla="*/ 232 w 306"/>
                <a:gd name="T11" fmla="*/ 0 h 93"/>
                <a:gd name="T12" fmla="*/ 306 w 306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93">
                  <a:moveTo>
                    <a:pt x="0" y="93"/>
                  </a:moveTo>
                  <a:lnTo>
                    <a:pt x="37" y="56"/>
                  </a:lnTo>
                  <a:lnTo>
                    <a:pt x="75" y="37"/>
                  </a:lnTo>
                  <a:lnTo>
                    <a:pt x="112" y="19"/>
                  </a:lnTo>
                  <a:lnTo>
                    <a:pt x="149" y="9"/>
                  </a:lnTo>
                  <a:lnTo>
                    <a:pt x="232" y="0"/>
                  </a:lnTo>
                  <a:lnTo>
                    <a:pt x="306" y="0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0" name="Freeform 36"/>
            <p:cNvSpPr>
              <a:spLocks/>
            </p:cNvSpPr>
            <p:nvPr/>
          </p:nvSpPr>
          <p:spPr bwMode="auto">
            <a:xfrm>
              <a:off x="4350" y="2141"/>
              <a:ext cx="297" cy="93"/>
            </a:xfrm>
            <a:custGeom>
              <a:avLst/>
              <a:gdLst>
                <a:gd name="T0" fmla="*/ 0 w 297"/>
                <a:gd name="T1" fmla="*/ 0 h 93"/>
                <a:gd name="T2" fmla="*/ 75 w 297"/>
                <a:gd name="T3" fmla="*/ 0 h 93"/>
                <a:gd name="T4" fmla="*/ 149 w 297"/>
                <a:gd name="T5" fmla="*/ 9 h 93"/>
                <a:gd name="T6" fmla="*/ 186 w 297"/>
                <a:gd name="T7" fmla="*/ 19 h 93"/>
                <a:gd name="T8" fmla="*/ 223 w 297"/>
                <a:gd name="T9" fmla="*/ 37 h 93"/>
                <a:gd name="T10" fmla="*/ 260 w 297"/>
                <a:gd name="T11" fmla="*/ 56 h 93"/>
                <a:gd name="T12" fmla="*/ 297 w 297"/>
                <a:gd name="T13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93">
                  <a:moveTo>
                    <a:pt x="0" y="0"/>
                  </a:moveTo>
                  <a:lnTo>
                    <a:pt x="75" y="0"/>
                  </a:lnTo>
                  <a:lnTo>
                    <a:pt x="149" y="9"/>
                  </a:lnTo>
                  <a:lnTo>
                    <a:pt x="186" y="19"/>
                  </a:lnTo>
                  <a:lnTo>
                    <a:pt x="223" y="37"/>
                  </a:lnTo>
                  <a:lnTo>
                    <a:pt x="260" y="56"/>
                  </a:lnTo>
                  <a:lnTo>
                    <a:pt x="297" y="93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1" name="Freeform 37"/>
            <p:cNvSpPr>
              <a:spLocks/>
            </p:cNvSpPr>
            <p:nvPr/>
          </p:nvSpPr>
          <p:spPr bwMode="auto">
            <a:xfrm>
              <a:off x="4647" y="2234"/>
              <a:ext cx="297" cy="547"/>
            </a:xfrm>
            <a:custGeom>
              <a:avLst/>
              <a:gdLst>
                <a:gd name="T0" fmla="*/ 0 w 297"/>
                <a:gd name="T1" fmla="*/ 0 h 547"/>
                <a:gd name="T2" fmla="*/ 37 w 297"/>
                <a:gd name="T3" fmla="*/ 46 h 547"/>
                <a:gd name="T4" fmla="*/ 74 w 297"/>
                <a:gd name="T5" fmla="*/ 102 h 547"/>
                <a:gd name="T6" fmla="*/ 111 w 297"/>
                <a:gd name="T7" fmla="*/ 176 h 547"/>
                <a:gd name="T8" fmla="*/ 149 w 297"/>
                <a:gd name="T9" fmla="*/ 241 h 547"/>
                <a:gd name="T10" fmla="*/ 223 w 297"/>
                <a:gd name="T11" fmla="*/ 399 h 547"/>
                <a:gd name="T12" fmla="*/ 260 w 297"/>
                <a:gd name="T13" fmla="*/ 473 h 547"/>
                <a:gd name="T14" fmla="*/ 297 w 297"/>
                <a:gd name="T15" fmla="*/ 547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7" h="547">
                  <a:moveTo>
                    <a:pt x="0" y="0"/>
                  </a:moveTo>
                  <a:lnTo>
                    <a:pt x="37" y="46"/>
                  </a:lnTo>
                  <a:lnTo>
                    <a:pt x="74" y="102"/>
                  </a:lnTo>
                  <a:lnTo>
                    <a:pt x="111" y="176"/>
                  </a:lnTo>
                  <a:lnTo>
                    <a:pt x="149" y="241"/>
                  </a:lnTo>
                  <a:lnTo>
                    <a:pt x="223" y="399"/>
                  </a:lnTo>
                  <a:lnTo>
                    <a:pt x="260" y="473"/>
                  </a:lnTo>
                  <a:lnTo>
                    <a:pt x="297" y="547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2" name="Freeform 38"/>
            <p:cNvSpPr>
              <a:spLocks/>
            </p:cNvSpPr>
            <p:nvPr/>
          </p:nvSpPr>
          <p:spPr bwMode="auto">
            <a:xfrm>
              <a:off x="4944" y="2781"/>
              <a:ext cx="297" cy="538"/>
            </a:xfrm>
            <a:custGeom>
              <a:avLst/>
              <a:gdLst>
                <a:gd name="T0" fmla="*/ 0 w 297"/>
                <a:gd name="T1" fmla="*/ 0 h 538"/>
                <a:gd name="T2" fmla="*/ 74 w 297"/>
                <a:gd name="T3" fmla="*/ 148 h 538"/>
                <a:gd name="T4" fmla="*/ 148 w 297"/>
                <a:gd name="T5" fmla="*/ 297 h 538"/>
                <a:gd name="T6" fmla="*/ 185 w 297"/>
                <a:gd name="T7" fmla="*/ 371 h 538"/>
                <a:gd name="T8" fmla="*/ 222 w 297"/>
                <a:gd name="T9" fmla="*/ 436 h 538"/>
                <a:gd name="T10" fmla="*/ 260 w 297"/>
                <a:gd name="T11" fmla="*/ 491 h 538"/>
                <a:gd name="T12" fmla="*/ 297 w 297"/>
                <a:gd name="T13" fmla="*/ 538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538">
                  <a:moveTo>
                    <a:pt x="0" y="0"/>
                  </a:moveTo>
                  <a:lnTo>
                    <a:pt x="74" y="148"/>
                  </a:lnTo>
                  <a:lnTo>
                    <a:pt x="148" y="297"/>
                  </a:lnTo>
                  <a:lnTo>
                    <a:pt x="185" y="371"/>
                  </a:lnTo>
                  <a:lnTo>
                    <a:pt x="222" y="436"/>
                  </a:lnTo>
                  <a:lnTo>
                    <a:pt x="260" y="491"/>
                  </a:lnTo>
                  <a:lnTo>
                    <a:pt x="297" y="538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3" name="Freeform 39"/>
            <p:cNvSpPr>
              <a:spLocks/>
            </p:cNvSpPr>
            <p:nvPr/>
          </p:nvSpPr>
          <p:spPr bwMode="auto">
            <a:xfrm>
              <a:off x="5241" y="3319"/>
              <a:ext cx="296" cy="111"/>
            </a:xfrm>
            <a:custGeom>
              <a:avLst/>
              <a:gdLst>
                <a:gd name="T0" fmla="*/ 0 w 296"/>
                <a:gd name="T1" fmla="*/ 0 h 111"/>
                <a:gd name="T2" fmla="*/ 37 w 296"/>
                <a:gd name="T3" fmla="*/ 37 h 111"/>
                <a:gd name="T4" fmla="*/ 74 w 296"/>
                <a:gd name="T5" fmla="*/ 55 h 111"/>
                <a:gd name="T6" fmla="*/ 111 w 296"/>
                <a:gd name="T7" fmla="*/ 74 h 111"/>
                <a:gd name="T8" fmla="*/ 148 w 296"/>
                <a:gd name="T9" fmla="*/ 93 h 111"/>
                <a:gd name="T10" fmla="*/ 222 w 296"/>
                <a:gd name="T11" fmla="*/ 102 h 111"/>
                <a:gd name="T12" fmla="*/ 296 w 296"/>
                <a:gd name="T13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11">
                  <a:moveTo>
                    <a:pt x="0" y="0"/>
                  </a:moveTo>
                  <a:lnTo>
                    <a:pt x="37" y="37"/>
                  </a:lnTo>
                  <a:lnTo>
                    <a:pt x="74" y="55"/>
                  </a:lnTo>
                  <a:lnTo>
                    <a:pt x="111" y="74"/>
                  </a:lnTo>
                  <a:lnTo>
                    <a:pt x="148" y="93"/>
                  </a:lnTo>
                  <a:lnTo>
                    <a:pt x="222" y="102"/>
                  </a:lnTo>
                  <a:lnTo>
                    <a:pt x="296" y="111"/>
                  </a:lnTo>
                </a:path>
              </a:pathLst>
            </a:custGeom>
            <a:noFill/>
            <a:ln w="30163">
              <a:solidFill>
                <a:srgbClr val="FF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4" name="Line 40"/>
            <p:cNvSpPr>
              <a:spLocks noChangeShapeType="1"/>
            </p:cNvSpPr>
            <p:nvPr/>
          </p:nvSpPr>
          <p:spPr bwMode="auto">
            <a:xfrm>
              <a:off x="3154" y="3439"/>
              <a:ext cx="297" cy="1"/>
            </a:xfrm>
            <a:prstGeom prst="line">
              <a:avLst/>
            </a:prstGeom>
            <a:noFill/>
            <a:ln w="30163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5" name="Line 41"/>
            <p:cNvSpPr>
              <a:spLocks noChangeShapeType="1"/>
            </p:cNvSpPr>
            <p:nvPr/>
          </p:nvSpPr>
          <p:spPr bwMode="auto">
            <a:xfrm>
              <a:off x="3451" y="3439"/>
              <a:ext cx="297" cy="1"/>
            </a:xfrm>
            <a:prstGeom prst="line">
              <a:avLst/>
            </a:prstGeom>
            <a:noFill/>
            <a:ln w="30163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6" name="Line 42"/>
            <p:cNvSpPr>
              <a:spLocks noChangeShapeType="1"/>
            </p:cNvSpPr>
            <p:nvPr/>
          </p:nvSpPr>
          <p:spPr bwMode="auto">
            <a:xfrm>
              <a:off x="3748" y="3439"/>
              <a:ext cx="296" cy="1"/>
            </a:xfrm>
            <a:prstGeom prst="line">
              <a:avLst/>
            </a:prstGeom>
            <a:noFill/>
            <a:ln w="30163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7" name="Freeform 43"/>
            <p:cNvSpPr>
              <a:spLocks/>
            </p:cNvSpPr>
            <p:nvPr/>
          </p:nvSpPr>
          <p:spPr bwMode="auto">
            <a:xfrm>
              <a:off x="4044" y="3430"/>
              <a:ext cx="306" cy="9"/>
            </a:xfrm>
            <a:custGeom>
              <a:avLst/>
              <a:gdLst>
                <a:gd name="T0" fmla="*/ 0 w 306"/>
                <a:gd name="T1" fmla="*/ 9 h 9"/>
                <a:gd name="T2" fmla="*/ 149 w 306"/>
                <a:gd name="T3" fmla="*/ 9 h 9"/>
                <a:gd name="T4" fmla="*/ 232 w 306"/>
                <a:gd name="T5" fmla="*/ 9 h 9"/>
                <a:gd name="T6" fmla="*/ 306 w 306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6" h="9">
                  <a:moveTo>
                    <a:pt x="0" y="9"/>
                  </a:moveTo>
                  <a:lnTo>
                    <a:pt x="149" y="9"/>
                  </a:lnTo>
                  <a:lnTo>
                    <a:pt x="232" y="9"/>
                  </a:lnTo>
                  <a:lnTo>
                    <a:pt x="306" y="0"/>
                  </a:lnTo>
                </a:path>
              </a:pathLst>
            </a:custGeom>
            <a:noFill/>
            <a:ln w="30163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8" name="Freeform 44"/>
            <p:cNvSpPr>
              <a:spLocks/>
            </p:cNvSpPr>
            <p:nvPr/>
          </p:nvSpPr>
          <p:spPr bwMode="auto">
            <a:xfrm>
              <a:off x="4350" y="3319"/>
              <a:ext cx="297" cy="111"/>
            </a:xfrm>
            <a:custGeom>
              <a:avLst/>
              <a:gdLst>
                <a:gd name="T0" fmla="*/ 0 w 297"/>
                <a:gd name="T1" fmla="*/ 111 h 111"/>
                <a:gd name="T2" fmla="*/ 75 w 297"/>
                <a:gd name="T3" fmla="*/ 102 h 111"/>
                <a:gd name="T4" fmla="*/ 149 w 297"/>
                <a:gd name="T5" fmla="*/ 93 h 111"/>
                <a:gd name="T6" fmla="*/ 186 w 297"/>
                <a:gd name="T7" fmla="*/ 74 h 111"/>
                <a:gd name="T8" fmla="*/ 223 w 297"/>
                <a:gd name="T9" fmla="*/ 55 h 111"/>
                <a:gd name="T10" fmla="*/ 260 w 297"/>
                <a:gd name="T11" fmla="*/ 37 h 111"/>
                <a:gd name="T12" fmla="*/ 297 w 297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111">
                  <a:moveTo>
                    <a:pt x="0" y="111"/>
                  </a:moveTo>
                  <a:lnTo>
                    <a:pt x="75" y="102"/>
                  </a:lnTo>
                  <a:lnTo>
                    <a:pt x="149" y="93"/>
                  </a:lnTo>
                  <a:lnTo>
                    <a:pt x="186" y="74"/>
                  </a:lnTo>
                  <a:lnTo>
                    <a:pt x="223" y="55"/>
                  </a:lnTo>
                  <a:lnTo>
                    <a:pt x="260" y="37"/>
                  </a:lnTo>
                  <a:lnTo>
                    <a:pt x="297" y="0"/>
                  </a:lnTo>
                </a:path>
              </a:pathLst>
            </a:custGeom>
            <a:noFill/>
            <a:ln w="30163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89" name="Freeform 45"/>
            <p:cNvSpPr>
              <a:spLocks/>
            </p:cNvSpPr>
            <p:nvPr/>
          </p:nvSpPr>
          <p:spPr bwMode="auto">
            <a:xfrm>
              <a:off x="4647" y="2781"/>
              <a:ext cx="297" cy="538"/>
            </a:xfrm>
            <a:custGeom>
              <a:avLst/>
              <a:gdLst>
                <a:gd name="T0" fmla="*/ 0 w 297"/>
                <a:gd name="T1" fmla="*/ 538 h 538"/>
                <a:gd name="T2" fmla="*/ 37 w 297"/>
                <a:gd name="T3" fmla="*/ 491 h 538"/>
                <a:gd name="T4" fmla="*/ 74 w 297"/>
                <a:gd name="T5" fmla="*/ 436 h 538"/>
                <a:gd name="T6" fmla="*/ 111 w 297"/>
                <a:gd name="T7" fmla="*/ 371 h 538"/>
                <a:gd name="T8" fmla="*/ 149 w 297"/>
                <a:gd name="T9" fmla="*/ 297 h 538"/>
                <a:gd name="T10" fmla="*/ 223 w 297"/>
                <a:gd name="T11" fmla="*/ 148 h 538"/>
                <a:gd name="T12" fmla="*/ 297 w 297"/>
                <a:gd name="T13" fmla="*/ 0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7" h="538">
                  <a:moveTo>
                    <a:pt x="0" y="538"/>
                  </a:moveTo>
                  <a:lnTo>
                    <a:pt x="37" y="491"/>
                  </a:lnTo>
                  <a:lnTo>
                    <a:pt x="74" y="436"/>
                  </a:lnTo>
                  <a:lnTo>
                    <a:pt x="111" y="371"/>
                  </a:lnTo>
                  <a:lnTo>
                    <a:pt x="149" y="297"/>
                  </a:lnTo>
                  <a:lnTo>
                    <a:pt x="223" y="148"/>
                  </a:lnTo>
                  <a:lnTo>
                    <a:pt x="297" y="0"/>
                  </a:lnTo>
                </a:path>
              </a:pathLst>
            </a:custGeom>
            <a:noFill/>
            <a:ln w="30163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90" name="Freeform 46"/>
            <p:cNvSpPr>
              <a:spLocks/>
            </p:cNvSpPr>
            <p:nvPr/>
          </p:nvSpPr>
          <p:spPr bwMode="auto">
            <a:xfrm>
              <a:off x="4944" y="2234"/>
              <a:ext cx="297" cy="547"/>
            </a:xfrm>
            <a:custGeom>
              <a:avLst/>
              <a:gdLst>
                <a:gd name="T0" fmla="*/ 0 w 297"/>
                <a:gd name="T1" fmla="*/ 547 h 547"/>
                <a:gd name="T2" fmla="*/ 37 w 297"/>
                <a:gd name="T3" fmla="*/ 473 h 547"/>
                <a:gd name="T4" fmla="*/ 74 w 297"/>
                <a:gd name="T5" fmla="*/ 399 h 547"/>
                <a:gd name="T6" fmla="*/ 148 w 297"/>
                <a:gd name="T7" fmla="*/ 250 h 547"/>
                <a:gd name="T8" fmla="*/ 185 w 297"/>
                <a:gd name="T9" fmla="*/ 176 h 547"/>
                <a:gd name="T10" fmla="*/ 222 w 297"/>
                <a:gd name="T11" fmla="*/ 102 h 547"/>
                <a:gd name="T12" fmla="*/ 260 w 297"/>
                <a:gd name="T13" fmla="*/ 46 h 547"/>
                <a:gd name="T14" fmla="*/ 297 w 297"/>
                <a:gd name="T15" fmla="*/ 0 h 5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7" h="547">
                  <a:moveTo>
                    <a:pt x="0" y="547"/>
                  </a:moveTo>
                  <a:lnTo>
                    <a:pt x="37" y="473"/>
                  </a:lnTo>
                  <a:lnTo>
                    <a:pt x="74" y="399"/>
                  </a:lnTo>
                  <a:lnTo>
                    <a:pt x="148" y="250"/>
                  </a:lnTo>
                  <a:lnTo>
                    <a:pt x="185" y="176"/>
                  </a:lnTo>
                  <a:lnTo>
                    <a:pt x="222" y="102"/>
                  </a:lnTo>
                  <a:lnTo>
                    <a:pt x="260" y="46"/>
                  </a:lnTo>
                  <a:lnTo>
                    <a:pt x="297" y="0"/>
                  </a:lnTo>
                </a:path>
              </a:pathLst>
            </a:custGeom>
            <a:noFill/>
            <a:ln w="30163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91" name="Freeform 47"/>
            <p:cNvSpPr>
              <a:spLocks/>
            </p:cNvSpPr>
            <p:nvPr/>
          </p:nvSpPr>
          <p:spPr bwMode="auto">
            <a:xfrm>
              <a:off x="5241" y="2122"/>
              <a:ext cx="296" cy="112"/>
            </a:xfrm>
            <a:custGeom>
              <a:avLst/>
              <a:gdLst>
                <a:gd name="T0" fmla="*/ 0 w 296"/>
                <a:gd name="T1" fmla="*/ 112 h 112"/>
                <a:gd name="T2" fmla="*/ 37 w 296"/>
                <a:gd name="T3" fmla="*/ 75 h 112"/>
                <a:gd name="T4" fmla="*/ 74 w 296"/>
                <a:gd name="T5" fmla="*/ 47 h 112"/>
                <a:gd name="T6" fmla="*/ 111 w 296"/>
                <a:gd name="T7" fmla="*/ 38 h 112"/>
                <a:gd name="T8" fmla="*/ 148 w 296"/>
                <a:gd name="T9" fmla="*/ 19 h 112"/>
                <a:gd name="T10" fmla="*/ 222 w 296"/>
                <a:gd name="T11" fmla="*/ 10 h 112"/>
                <a:gd name="T12" fmla="*/ 296 w 296"/>
                <a:gd name="T1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12">
                  <a:moveTo>
                    <a:pt x="0" y="112"/>
                  </a:moveTo>
                  <a:lnTo>
                    <a:pt x="37" y="75"/>
                  </a:lnTo>
                  <a:lnTo>
                    <a:pt x="74" y="47"/>
                  </a:lnTo>
                  <a:lnTo>
                    <a:pt x="111" y="38"/>
                  </a:lnTo>
                  <a:lnTo>
                    <a:pt x="148" y="19"/>
                  </a:lnTo>
                  <a:lnTo>
                    <a:pt x="222" y="10"/>
                  </a:lnTo>
                  <a:lnTo>
                    <a:pt x="296" y="0"/>
                  </a:lnTo>
                </a:path>
              </a:pathLst>
            </a:custGeom>
            <a:noFill/>
            <a:ln w="30163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192" name="Rectangle 48"/>
            <p:cNvSpPr>
              <a:spLocks noChangeArrowheads="1"/>
            </p:cNvSpPr>
            <p:nvPr/>
          </p:nvSpPr>
          <p:spPr bwMode="auto">
            <a:xfrm>
              <a:off x="2996" y="3365"/>
              <a:ext cx="64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0</a:t>
              </a:r>
              <a:endParaRPr lang="fr-FR" altLang="ar-AE" sz="2400" b="1"/>
            </a:p>
          </p:txBody>
        </p:sp>
        <p:sp>
          <p:nvSpPr>
            <p:cNvPr id="6193" name="Rectangle 49"/>
            <p:cNvSpPr>
              <a:spLocks noChangeArrowheads="1"/>
            </p:cNvSpPr>
            <p:nvPr/>
          </p:nvSpPr>
          <p:spPr bwMode="auto">
            <a:xfrm>
              <a:off x="2932" y="3096"/>
              <a:ext cx="12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20</a:t>
              </a:r>
              <a:endParaRPr lang="fr-FR" altLang="ar-AE" sz="2400" b="1"/>
            </a:p>
          </p:txBody>
        </p:sp>
        <p:sp>
          <p:nvSpPr>
            <p:cNvPr id="6194" name="Rectangle 50"/>
            <p:cNvSpPr>
              <a:spLocks noChangeArrowheads="1"/>
            </p:cNvSpPr>
            <p:nvPr/>
          </p:nvSpPr>
          <p:spPr bwMode="auto">
            <a:xfrm>
              <a:off x="2932" y="2837"/>
              <a:ext cx="12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40</a:t>
              </a:r>
              <a:endParaRPr lang="fr-FR" altLang="ar-AE" sz="2400" b="1"/>
            </a:p>
          </p:txBody>
        </p:sp>
        <p:sp>
          <p:nvSpPr>
            <p:cNvPr id="6195" name="Rectangle 51"/>
            <p:cNvSpPr>
              <a:spLocks noChangeArrowheads="1"/>
            </p:cNvSpPr>
            <p:nvPr/>
          </p:nvSpPr>
          <p:spPr bwMode="auto">
            <a:xfrm>
              <a:off x="2932" y="2568"/>
              <a:ext cx="12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60</a:t>
              </a:r>
              <a:endParaRPr lang="fr-FR" altLang="ar-AE" sz="2400" b="1"/>
            </a:p>
          </p:txBody>
        </p:sp>
        <p:sp>
          <p:nvSpPr>
            <p:cNvPr id="6196" name="Rectangle 52"/>
            <p:cNvSpPr>
              <a:spLocks noChangeArrowheads="1"/>
            </p:cNvSpPr>
            <p:nvPr/>
          </p:nvSpPr>
          <p:spPr bwMode="auto">
            <a:xfrm>
              <a:off x="2932" y="2308"/>
              <a:ext cx="12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80</a:t>
              </a:r>
              <a:endParaRPr lang="fr-FR" altLang="ar-AE" sz="2400" b="1"/>
            </a:p>
          </p:txBody>
        </p:sp>
        <p:sp>
          <p:nvSpPr>
            <p:cNvPr id="6197" name="Rectangle 53"/>
            <p:cNvSpPr>
              <a:spLocks noChangeArrowheads="1"/>
            </p:cNvSpPr>
            <p:nvPr/>
          </p:nvSpPr>
          <p:spPr bwMode="auto">
            <a:xfrm>
              <a:off x="2867" y="2039"/>
              <a:ext cx="192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100</a:t>
              </a:r>
              <a:endParaRPr lang="fr-FR" altLang="ar-AE" sz="2400" b="1"/>
            </a:p>
          </p:txBody>
        </p:sp>
        <p:sp>
          <p:nvSpPr>
            <p:cNvPr id="6198" name="Rectangle 54"/>
            <p:cNvSpPr>
              <a:spLocks noChangeArrowheads="1"/>
            </p:cNvSpPr>
            <p:nvPr/>
          </p:nvSpPr>
          <p:spPr bwMode="auto">
            <a:xfrm>
              <a:off x="3126" y="3541"/>
              <a:ext cx="64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2</a:t>
              </a:r>
              <a:endParaRPr lang="fr-FR" altLang="ar-AE" sz="2400" b="1"/>
            </a:p>
          </p:txBody>
        </p:sp>
        <p:sp>
          <p:nvSpPr>
            <p:cNvPr id="6199" name="Rectangle 55"/>
            <p:cNvSpPr>
              <a:spLocks noChangeArrowheads="1"/>
            </p:cNvSpPr>
            <p:nvPr/>
          </p:nvSpPr>
          <p:spPr bwMode="auto">
            <a:xfrm>
              <a:off x="3720" y="3541"/>
              <a:ext cx="64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4</a:t>
              </a:r>
              <a:endParaRPr lang="fr-FR" altLang="ar-AE" sz="2400" b="1"/>
            </a:p>
          </p:txBody>
        </p:sp>
        <p:sp>
          <p:nvSpPr>
            <p:cNvPr id="6200" name="Rectangle 56"/>
            <p:cNvSpPr>
              <a:spLocks noChangeArrowheads="1"/>
            </p:cNvSpPr>
            <p:nvPr/>
          </p:nvSpPr>
          <p:spPr bwMode="auto">
            <a:xfrm>
              <a:off x="4323" y="3541"/>
              <a:ext cx="64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6</a:t>
              </a:r>
              <a:endParaRPr lang="fr-FR" altLang="ar-AE" sz="2400" b="1"/>
            </a:p>
          </p:txBody>
        </p:sp>
        <p:sp>
          <p:nvSpPr>
            <p:cNvPr id="6201" name="Rectangle 57"/>
            <p:cNvSpPr>
              <a:spLocks noChangeArrowheads="1"/>
            </p:cNvSpPr>
            <p:nvPr/>
          </p:nvSpPr>
          <p:spPr bwMode="auto">
            <a:xfrm>
              <a:off x="4916" y="3541"/>
              <a:ext cx="64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8</a:t>
              </a:r>
              <a:endParaRPr lang="fr-FR" altLang="ar-AE" sz="2400" b="1"/>
            </a:p>
          </p:txBody>
        </p:sp>
        <p:sp>
          <p:nvSpPr>
            <p:cNvPr id="6202" name="Rectangle 58"/>
            <p:cNvSpPr>
              <a:spLocks noChangeArrowheads="1"/>
            </p:cNvSpPr>
            <p:nvPr/>
          </p:nvSpPr>
          <p:spPr bwMode="auto">
            <a:xfrm>
              <a:off x="5473" y="3541"/>
              <a:ext cx="127" cy="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500" b="1">
                  <a:solidFill>
                    <a:srgbClr val="000000"/>
                  </a:solidFill>
                </a:rPr>
                <a:t>10</a:t>
              </a:r>
              <a:endParaRPr lang="fr-FR" altLang="ar-AE" sz="2400" b="1"/>
            </a:p>
          </p:txBody>
        </p:sp>
        <p:sp>
          <p:nvSpPr>
            <p:cNvPr id="6203" name="Rectangle 59"/>
            <p:cNvSpPr>
              <a:spLocks noChangeArrowheads="1"/>
            </p:cNvSpPr>
            <p:nvPr/>
          </p:nvSpPr>
          <p:spPr bwMode="auto">
            <a:xfrm>
              <a:off x="2755" y="1918"/>
              <a:ext cx="2949" cy="190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</p:grpSp>
      <p:sp>
        <p:nvSpPr>
          <p:cNvPr id="6204" name="Text Box 60"/>
          <p:cNvSpPr txBox="1">
            <a:spLocks noChangeArrowheads="1"/>
          </p:cNvSpPr>
          <p:nvPr/>
        </p:nvSpPr>
        <p:spPr bwMode="auto">
          <a:xfrm>
            <a:off x="1524000" y="1"/>
            <a:ext cx="457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 [AH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]</a:t>
            </a:r>
            <a:r>
              <a:rPr lang="fr-FR" altLang="ar-AE" sz="2000" b="1" baseline="30000"/>
              <a:t> </a:t>
            </a:r>
            <a:r>
              <a:rPr lang="fr-FR" altLang="ar-AE" sz="2000" b="1"/>
              <a:t>= C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05" name="Text Box 61"/>
          <p:cNvSpPr txBox="1">
            <a:spLocks noChangeArrowheads="1"/>
          </p:cNvSpPr>
          <p:nvPr/>
        </p:nvSpPr>
        <p:spPr bwMode="auto">
          <a:xfrm>
            <a:off x="1524000" y="762001"/>
            <a:ext cx="533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 [AH</a:t>
            </a:r>
            <a:r>
              <a:rPr lang="fr-FR" altLang="ar-AE" sz="2000" b="1" baseline="30000"/>
              <a:t>-</a:t>
            </a:r>
            <a:r>
              <a:rPr lang="fr-FR" altLang="ar-AE" sz="2000" b="1"/>
              <a:t>]</a:t>
            </a:r>
            <a:r>
              <a:rPr lang="fr-FR" altLang="ar-AE" sz="2000" b="1" baseline="30000"/>
              <a:t> </a:t>
            </a:r>
            <a:r>
              <a:rPr lang="fr-FR" altLang="ar-AE" sz="2000" b="1"/>
              <a:t>=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C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06" name="Text Box 62"/>
          <p:cNvSpPr txBox="1">
            <a:spLocks noChangeArrowheads="1"/>
          </p:cNvSpPr>
          <p:nvPr/>
        </p:nvSpPr>
        <p:spPr bwMode="auto">
          <a:xfrm>
            <a:off x="1524000" y="1447801"/>
            <a:ext cx="533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 [A</a:t>
            </a:r>
            <a:r>
              <a:rPr lang="fr-FR" altLang="ar-AE" sz="2000" b="1" baseline="30000"/>
              <a:t>2-</a:t>
            </a:r>
            <a:r>
              <a:rPr lang="fr-FR" altLang="ar-AE" sz="2000" b="1"/>
              <a:t>]</a:t>
            </a:r>
            <a:r>
              <a:rPr lang="fr-FR" altLang="ar-AE" sz="2000" b="1" baseline="30000"/>
              <a:t> </a:t>
            </a:r>
            <a:r>
              <a:rPr lang="fr-FR" altLang="ar-AE" sz="2000" b="1"/>
              <a:t>=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C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07" name="Text Box 63"/>
          <p:cNvSpPr txBox="1">
            <a:spLocks noChangeArrowheads="1"/>
          </p:cNvSpPr>
          <p:nvPr/>
        </p:nvSpPr>
        <p:spPr bwMode="auto">
          <a:xfrm>
            <a:off x="5715000" y="1"/>
            <a:ext cx="3886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%AH</a:t>
            </a:r>
            <a:r>
              <a:rPr lang="fr-FR" altLang="ar-AE" sz="2000" b="1" baseline="-25000"/>
              <a:t>2</a:t>
            </a:r>
            <a:r>
              <a:rPr lang="fr-FR" altLang="ar-AE" sz="2000" b="1" baseline="30000"/>
              <a:t> </a:t>
            </a:r>
            <a:r>
              <a:rPr lang="fr-FR" altLang="ar-AE" sz="2000" b="1"/>
              <a:t>= 100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08" name="Text Box 64"/>
          <p:cNvSpPr txBox="1">
            <a:spLocks noChangeArrowheads="1"/>
          </p:cNvSpPr>
          <p:nvPr/>
        </p:nvSpPr>
        <p:spPr bwMode="auto">
          <a:xfrm>
            <a:off x="5715000" y="762001"/>
            <a:ext cx="426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%AH</a:t>
            </a:r>
            <a:r>
              <a:rPr lang="fr-FR" altLang="ar-AE" sz="2000" b="1" baseline="30000"/>
              <a:t>-</a:t>
            </a:r>
            <a:r>
              <a:rPr lang="fr-FR" altLang="ar-AE" sz="2000" b="1"/>
              <a:t> = 100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09" name="Text Box 65"/>
          <p:cNvSpPr txBox="1">
            <a:spLocks noChangeArrowheads="1"/>
          </p:cNvSpPr>
          <p:nvPr/>
        </p:nvSpPr>
        <p:spPr bwMode="auto">
          <a:xfrm>
            <a:off x="5715000" y="1447801"/>
            <a:ext cx="457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/>
              <a:t>%A</a:t>
            </a:r>
            <a:r>
              <a:rPr lang="fr-FR" altLang="ar-AE" sz="2000" b="1" baseline="30000"/>
              <a:t>2-</a:t>
            </a:r>
            <a:r>
              <a:rPr lang="fr-FR" altLang="ar-AE" sz="2000" b="1"/>
              <a:t> = 100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 / ( 1 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 + R</a:t>
            </a:r>
            <a:r>
              <a:rPr lang="fr-FR" altLang="ar-AE" sz="2000" b="1" baseline="-25000"/>
              <a:t>1</a:t>
            </a:r>
            <a:r>
              <a:rPr lang="fr-FR" altLang="ar-AE" sz="2000" b="1"/>
              <a:t>R</a:t>
            </a:r>
            <a:r>
              <a:rPr lang="fr-FR" altLang="ar-AE" sz="2000" b="1" baseline="-25000"/>
              <a:t>2</a:t>
            </a:r>
            <a:r>
              <a:rPr lang="fr-FR" altLang="ar-AE" sz="2000" b="1"/>
              <a:t> )</a:t>
            </a:r>
          </a:p>
        </p:txBody>
      </p:sp>
      <p:sp>
        <p:nvSpPr>
          <p:cNvPr id="6210" name="Text Box 66"/>
          <p:cNvSpPr txBox="1">
            <a:spLocks noChangeArrowheads="1"/>
          </p:cNvSpPr>
          <p:nvPr/>
        </p:nvSpPr>
        <p:spPr bwMode="auto">
          <a:xfrm>
            <a:off x="1524000" y="1981200"/>
            <a:ext cx="830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400" b="1">
                <a:solidFill>
                  <a:schemeClr val="accent2"/>
                </a:solidFill>
              </a:rPr>
              <a:t>Valeurs obtenues pour pK</a:t>
            </a:r>
            <a:r>
              <a:rPr lang="fr-FR" altLang="ar-AE" sz="2400" b="1" baseline="-25000">
                <a:solidFill>
                  <a:schemeClr val="accent2"/>
                </a:solidFill>
              </a:rPr>
              <a:t>1</a:t>
            </a:r>
            <a:r>
              <a:rPr lang="fr-FR" altLang="ar-AE" sz="2400" b="1">
                <a:solidFill>
                  <a:schemeClr val="accent2"/>
                </a:solidFill>
              </a:rPr>
              <a:t>=4 et pK</a:t>
            </a:r>
            <a:r>
              <a:rPr lang="fr-FR" altLang="ar-AE" sz="2400" b="1" baseline="-25000">
                <a:solidFill>
                  <a:schemeClr val="accent2"/>
                </a:solidFill>
              </a:rPr>
              <a:t>2</a:t>
            </a:r>
            <a:r>
              <a:rPr lang="fr-FR" altLang="ar-AE" sz="2400" b="1">
                <a:solidFill>
                  <a:schemeClr val="accent2"/>
                </a:solidFill>
              </a:rPr>
              <a:t>=8 </a:t>
            </a:r>
            <a:r>
              <a:rPr lang="fr-FR" altLang="ar-AE" sz="2400" b="1">
                <a:solidFill>
                  <a:srgbClr val="FF66FF"/>
                </a:solidFill>
              </a:rPr>
              <a:t>(cas typique)</a:t>
            </a:r>
            <a:endParaRPr lang="fr-FR" altLang="ar-AE" sz="2400" b="1">
              <a:solidFill>
                <a:schemeClr val="accent2"/>
              </a:solidFill>
            </a:endParaRPr>
          </a:p>
        </p:txBody>
      </p:sp>
      <p:sp>
        <p:nvSpPr>
          <p:cNvPr id="6211" name="Text Box 67"/>
          <p:cNvSpPr txBox="1">
            <a:spLocks noChangeArrowheads="1"/>
          </p:cNvSpPr>
          <p:nvPr/>
        </p:nvSpPr>
        <p:spPr bwMode="auto">
          <a:xfrm>
            <a:off x="7086600" y="5638800"/>
            <a:ext cx="68580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chemeClr val="accent2"/>
                </a:solidFill>
              </a:rPr>
              <a:t>pK</a:t>
            </a:r>
            <a:r>
              <a:rPr lang="fr-FR" altLang="ar-AE" sz="2000" b="1" baseline="-25000">
                <a:solidFill>
                  <a:schemeClr val="accent2"/>
                </a:solidFill>
              </a:rPr>
              <a:t>1</a:t>
            </a:r>
            <a:endParaRPr lang="fr-FR" altLang="ar-AE" sz="2000" b="1"/>
          </a:p>
        </p:txBody>
      </p:sp>
      <p:sp>
        <p:nvSpPr>
          <p:cNvPr id="6212" name="Text Box 68"/>
          <p:cNvSpPr txBox="1">
            <a:spLocks noChangeArrowheads="1"/>
          </p:cNvSpPr>
          <p:nvPr/>
        </p:nvSpPr>
        <p:spPr bwMode="auto">
          <a:xfrm>
            <a:off x="9067800" y="5638800"/>
            <a:ext cx="685800" cy="40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fr-FR" altLang="ar-AE" sz="2000" b="1">
                <a:solidFill>
                  <a:schemeClr val="accent2"/>
                </a:solidFill>
              </a:rPr>
              <a:t>pK</a:t>
            </a:r>
            <a:r>
              <a:rPr lang="fr-FR" altLang="ar-AE" sz="2000" b="1" baseline="-25000">
                <a:solidFill>
                  <a:schemeClr val="accent2"/>
                </a:solidFill>
              </a:rPr>
              <a:t>2</a:t>
            </a:r>
            <a:endParaRPr lang="fr-FR" altLang="ar-AE" sz="2000" b="1"/>
          </a:p>
        </p:txBody>
      </p:sp>
      <p:sp>
        <p:nvSpPr>
          <p:cNvPr id="6213" name="Text Box 69"/>
          <p:cNvSpPr txBox="1">
            <a:spLocks noChangeArrowheads="1"/>
          </p:cNvSpPr>
          <p:nvPr/>
        </p:nvSpPr>
        <p:spPr bwMode="auto">
          <a:xfrm>
            <a:off x="7543800" y="2514600"/>
            <a:ext cx="1828800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fr-FR" altLang="ar-AE" b="1">
                <a:solidFill>
                  <a:srgbClr val="FF0000"/>
                </a:solidFill>
              </a:rPr>
              <a:t>1/2 (pK</a:t>
            </a:r>
            <a:r>
              <a:rPr lang="fr-FR" altLang="ar-AE" b="1" baseline="-25000">
                <a:solidFill>
                  <a:srgbClr val="FF0000"/>
                </a:solidFill>
              </a:rPr>
              <a:t>1</a:t>
            </a:r>
            <a:r>
              <a:rPr lang="fr-FR" altLang="ar-AE" b="1">
                <a:solidFill>
                  <a:srgbClr val="FF0000"/>
                </a:solidFill>
              </a:rPr>
              <a:t>+ pK</a:t>
            </a:r>
            <a:r>
              <a:rPr lang="fr-FR" altLang="ar-AE" b="1" baseline="-25000">
                <a:solidFill>
                  <a:srgbClr val="FF0000"/>
                </a:solidFill>
              </a:rPr>
              <a:t>2</a:t>
            </a:r>
            <a:r>
              <a:rPr lang="fr-FR" altLang="ar-AE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214" name="Line 70"/>
          <p:cNvSpPr>
            <a:spLocks noChangeShapeType="1"/>
          </p:cNvSpPr>
          <p:nvPr/>
        </p:nvSpPr>
        <p:spPr bwMode="auto">
          <a:xfrm flipV="1">
            <a:off x="7391400" y="3429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r-AE"/>
          </a:p>
        </p:txBody>
      </p:sp>
      <p:sp>
        <p:nvSpPr>
          <p:cNvPr id="6215" name="Line 71"/>
          <p:cNvSpPr>
            <a:spLocks noChangeShapeType="1"/>
          </p:cNvSpPr>
          <p:nvPr/>
        </p:nvSpPr>
        <p:spPr bwMode="auto">
          <a:xfrm flipV="1">
            <a:off x="9372600" y="3429000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r-AE"/>
          </a:p>
        </p:txBody>
      </p:sp>
      <p:sp>
        <p:nvSpPr>
          <p:cNvPr id="6216" name="Line 72"/>
          <p:cNvSpPr>
            <a:spLocks noChangeShapeType="1"/>
          </p:cNvSpPr>
          <p:nvPr/>
        </p:nvSpPr>
        <p:spPr bwMode="auto">
          <a:xfrm flipV="1">
            <a:off x="8382000" y="2895600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ar-AE"/>
          </a:p>
        </p:txBody>
      </p:sp>
      <p:grpSp>
        <p:nvGrpSpPr>
          <p:cNvPr id="6217" name="Group 73"/>
          <p:cNvGrpSpPr>
            <a:grpSpLocks/>
          </p:cNvGrpSpPr>
          <p:nvPr/>
        </p:nvGrpSpPr>
        <p:grpSpPr bwMode="auto">
          <a:xfrm>
            <a:off x="1828800" y="2971800"/>
            <a:ext cx="3886200" cy="3276600"/>
            <a:chOff x="192" y="1872"/>
            <a:chExt cx="2448" cy="2064"/>
          </a:xfrm>
        </p:grpSpPr>
        <p:sp>
          <p:nvSpPr>
            <p:cNvPr id="6218" name="Rectangle 74"/>
            <p:cNvSpPr>
              <a:spLocks noChangeArrowheads="1"/>
            </p:cNvSpPr>
            <p:nvPr/>
          </p:nvSpPr>
          <p:spPr bwMode="auto">
            <a:xfrm>
              <a:off x="192" y="2544"/>
              <a:ext cx="2400" cy="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19" name="Rectangle 75"/>
            <p:cNvSpPr>
              <a:spLocks noChangeArrowheads="1"/>
            </p:cNvSpPr>
            <p:nvPr/>
          </p:nvSpPr>
          <p:spPr bwMode="auto">
            <a:xfrm>
              <a:off x="192" y="1872"/>
              <a:ext cx="2400" cy="14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0" name="Rectangle 76"/>
            <p:cNvSpPr>
              <a:spLocks noChangeArrowheads="1"/>
            </p:cNvSpPr>
            <p:nvPr/>
          </p:nvSpPr>
          <p:spPr bwMode="auto">
            <a:xfrm>
              <a:off x="192" y="3168"/>
              <a:ext cx="2400" cy="76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1" name="Rectangle 77"/>
            <p:cNvSpPr>
              <a:spLocks noChangeArrowheads="1"/>
            </p:cNvSpPr>
            <p:nvPr/>
          </p:nvSpPr>
          <p:spPr bwMode="auto">
            <a:xfrm>
              <a:off x="192" y="2640"/>
              <a:ext cx="240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2" name="Rectangle 78"/>
            <p:cNvSpPr>
              <a:spLocks noChangeArrowheads="1"/>
            </p:cNvSpPr>
            <p:nvPr/>
          </p:nvSpPr>
          <p:spPr bwMode="auto">
            <a:xfrm>
              <a:off x="192" y="3024"/>
              <a:ext cx="2448" cy="14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3" name="Rectangle 79"/>
            <p:cNvSpPr>
              <a:spLocks noChangeArrowheads="1"/>
            </p:cNvSpPr>
            <p:nvPr/>
          </p:nvSpPr>
          <p:spPr bwMode="auto">
            <a:xfrm>
              <a:off x="192" y="2400"/>
              <a:ext cx="2400" cy="14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4" name="Rectangle 80"/>
            <p:cNvSpPr>
              <a:spLocks noChangeArrowheads="1"/>
            </p:cNvSpPr>
            <p:nvPr/>
          </p:nvSpPr>
          <p:spPr bwMode="auto">
            <a:xfrm>
              <a:off x="192" y="2016"/>
              <a:ext cx="240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  <p:sp>
          <p:nvSpPr>
            <p:cNvPr id="6225" name="Line 81"/>
            <p:cNvSpPr>
              <a:spLocks noChangeShapeType="1"/>
            </p:cNvSpPr>
            <p:nvPr/>
          </p:nvSpPr>
          <p:spPr bwMode="auto">
            <a:xfrm>
              <a:off x="192" y="1872"/>
              <a:ext cx="2408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26" name="Rectangle 82"/>
            <p:cNvSpPr>
              <a:spLocks noChangeArrowheads="1"/>
            </p:cNvSpPr>
            <p:nvPr/>
          </p:nvSpPr>
          <p:spPr bwMode="auto">
            <a:xfrm>
              <a:off x="192" y="1872"/>
              <a:ext cx="2408" cy="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27" name="Line 83"/>
            <p:cNvSpPr>
              <a:spLocks noChangeShapeType="1"/>
            </p:cNvSpPr>
            <p:nvPr/>
          </p:nvSpPr>
          <p:spPr bwMode="auto">
            <a:xfrm>
              <a:off x="192" y="1872"/>
              <a:ext cx="1" cy="2063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28" name="Rectangle 84"/>
            <p:cNvSpPr>
              <a:spLocks noChangeArrowheads="1"/>
            </p:cNvSpPr>
            <p:nvPr/>
          </p:nvSpPr>
          <p:spPr bwMode="auto">
            <a:xfrm>
              <a:off x="192" y="1872"/>
              <a:ext cx="8" cy="206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29" name="Rectangle 85"/>
            <p:cNvSpPr>
              <a:spLocks noChangeArrowheads="1"/>
            </p:cNvSpPr>
            <p:nvPr/>
          </p:nvSpPr>
          <p:spPr bwMode="auto">
            <a:xfrm>
              <a:off x="432" y="1894"/>
              <a:ext cx="10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pH</a:t>
              </a:r>
            </a:p>
          </p:txBody>
        </p:sp>
        <p:sp>
          <p:nvSpPr>
            <p:cNvPr id="6230" name="Rectangle 86"/>
            <p:cNvSpPr>
              <a:spLocks noChangeArrowheads="1"/>
            </p:cNvSpPr>
            <p:nvPr/>
          </p:nvSpPr>
          <p:spPr bwMode="auto">
            <a:xfrm>
              <a:off x="972" y="1894"/>
              <a:ext cx="18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%AH</a:t>
              </a:r>
            </a:p>
          </p:txBody>
        </p:sp>
        <p:sp>
          <p:nvSpPr>
            <p:cNvPr id="6231" name="Rectangle 87"/>
            <p:cNvSpPr>
              <a:spLocks noChangeArrowheads="1"/>
            </p:cNvSpPr>
            <p:nvPr/>
          </p:nvSpPr>
          <p:spPr bwMode="auto">
            <a:xfrm>
              <a:off x="1182" y="1939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2</a:t>
              </a:r>
              <a:endParaRPr lang="fr-FR" altLang="ar-AE" sz="1000" b="1"/>
            </a:p>
          </p:txBody>
        </p:sp>
        <p:sp>
          <p:nvSpPr>
            <p:cNvPr id="6232" name="Rectangle 88"/>
            <p:cNvSpPr>
              <a:spLocks noChangeArrowheads="1"/>
            </p:cNvSpPr>
            <p:nvPr/>
          </p:nvSpPr>
          <p:spPr bwMode="auto">
            <a:xfrm>
              <a:off x="1580" y="1887"/>
              <a:ext cx="18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%AH</a:t>
              </a:r>
            </a:p>
          </p:txBody>
        </p:sp>
        <p:sp>
          <p:nvSpPr>
            <p:cNvPr id="6233" name="Rectangle 89"/>
            <p:cNvSpPr>
              <a:spLocks noChangeArrowheads="1"/>
            </p:cNvSpPr>
            <p:nvPr/>
          </p:nvSpPr>
          <p:spPr bwMode="auto">
            <a:xfrm>
              <a:off x="1790" y="1872"/>
              <a:ext cx="3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-</a:t>
              </a:r>
              <a:endParaRPr lang="fr-FR" altLang="ar-AE" sz="1000" b="1"/>
            </a:p>
          </p:txBody>
        </p:sp>
        <p:sp>
          <p:nvSpPr>
            <p:cNvPr id="6234" name="Rectangle 90"/>
            <p:cNvSpPr>
              <a:spLocks noChangeArrowheads="1"/>
            </p:cNvSpPr>
            <p:nvPr/>
          </p:nvSpPr>
          <p:spPr bwMode="auto">
            <a:xfrm>
              <a:off x="2195" y="1887"/>
              <a:ext cx="12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%A</a:t>
              </a:r>
            </a:p>
          </p:txBody>
        </p:sp>
        <p:sp>
          <p:nvSpPr>
            <p:cNvPr id="6235" name="Rectangle 91"/>
            <p:cNvSpPr>
              <a:spLocks noChangeArrowheads="1"/>
            </p:cNvSpPr>
            <p:nvPr/>
          </p:nvSpPr>
          <p:spPr bwMode="auto">
            <a:xfrm>
              <a:off x="2337" y="1872"/>
              <a:ext cx="8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2-</a:t>
              </a:r>
            </a:p>
          </p:txBody>
        </p:sp>
        <p:sp>
          <p:nvSpPr>
            <p:cNvPr id="6236" name="Rectangle 92"/>
            <p:cNvSpPr>
              <a:spLocks noChangeArrowheads="1"/>
            </p:cNvSpPr>
            <p:nvPr/>
          </p:nvSpPr>
          <p:spPr bwMode="auto">
            <a:xfrm>
              <a:off x="470" y="2029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237" name="Rectangle 93"/>
            <p:cNvSpPr>
              <a:spLocks noChangeArrowheads="1"/>
            </p:cNvSpPr>
            <p:nvPr/>
          </p:nvSpPr>
          <p:spPr bwMode="auto">
            <a:xfrm>
              <a:off x="1017" y="2029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  <a:endParaRPr lang="fr-FR" altLang="ar-AE" sz="1000" b="1"/>
            </a:p>
          </p:txBody>
        </p:sp>
        <p:sp>
          <p:nvSpPr>
            <p:cNvPr id="6238" name="Rectangle 94"/>
            <p:cNvSpPr>
              <a:spLocks noChangeArrowheads="1"/>
            </p:cNvSpPr>
            <p:nvPr/>
          </p:nvSpPr>
          <p:spPr bwMode="auto">
            <a:xfrm>
              <a:off x="1670" y="2029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39" name="Rectangle 95"/>
            <p:cNvSpPr>
              <a:spLocks noChangeArrowheads="1"/>
            </p:cNvSpPr>
            <p:nvPr/>
          </p:nvSpPr>
          <p:spPr bwMode="auto">
            <a:xfrm>
              <a:off x="2270" y="2029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40" name="Rectangle 96"/>
            <p:cNvSpPr>
              <a:spLocks noChangeArrowheads="1"/>
            </p:cNvSpPr>
            <p:nvPr/>
          </p:nvSpPr>
          <p:spPr bwMode="auto">
            <a:xfrm>
              <a:off x="470" y="2156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241" name="Rectangle 97"/>
            <p:cNvSpPr>
              <a:spLocks noChangeArrowheads="1"/>
            </p:cNvSpPr>
            <p:nvPr/>
          </p:nvSpPr>
          <p:spPr bwMode="auto">
            <a:xfrm>
              <a:off x="1017" y="2156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  <a:endParaRPr lang="fr-FR" altLang="ar-AE" sz="1000" b="1"/>
            </a:p>
          </p:txBody>
        </p:sp>
        <p:sp>
          <p:nvSpPr>
            <p:cNvPr id="6242" name="Rectangle 98"/>
            <p:cNvSpPr>
              <a:spLocks noChangeArrowheads="1"/>
            </p:cNvSpPr>
            <p:nvPr/>
          </p:nvSpPr>
          <p:spPr bwMode="auto">
            <a:xfrm>
              <a:off x="1670" y="2156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43" name="Rectangle 99"/>
            <p:cNvSpPr>
              <a:spLocks noChangeArrowheads="1"/>
            </p:cNvSpPr>
            <p:nvPr/>
          </p:nvSpPr>
          <p:spPr bwMode="auto">
            <a:xfrm>
              <a:off x="2270" y="2156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44" name="Rectangle 100"/>
            <p:cNvSpPr>
              <a:spLocks noChangeArrowheads="1"/>
            </p:cNvSpPr>
            <p:nvPr/>
          </p:nvSpPr>
          <p:spPr bwMode="auto">
            <a:xfrm>
              <a:off x="470" y="228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245" name="Rectangle 101"/>
            <p:cNvSpPr>
              <a:spLocks noChangeArrowheads="1"/>
            </p:cNvSpPr>
            <p:nvPr/>
          </p:nvSpPr>
          <p:spPr bwMode="auto">
            <a:xfrm>
              <a:off x="1047" y="2283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99</a:t>
              </a:r>
              <a:endParaRPr lang="fr-FR" altLang="ar-AE" sz="1000" b="1"/>
            </a:p>
          </p:txBody>
        </p:sp>
        <p:sp>
          <p:nvSpPr>
            <p:cNvPr id="6246" name="Rectangle 102"/>
            <p:cNvSpPr>
              <a:spLocks noChangeArrowheads="1"/>
            </p:cNvSpPr>
            <p:nvPr/>
          </p:nvSpPr>
          <p:spPr bwMode="auto">
            <a:xfrm>
              <a:off x="1670" y="228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1</a:t>
              </a:r>
              <a:endParaRPr lang="fr-FR" altLang="ar-AE" sz="1000" b="1"/>
            </a:p>
          </p:txBody>
        </p:sp>
        <p:sp>
          <p:nvSpPr>
            <p:cNvPr id="6247" name="Rectangle 103"/>
            <p:cNvSpPr>
              <a:spLocks noChangeArrowheads="1"/>
            </p:cNvSpPr>
            <p:nvPr/>
          </p:nvSpPr>
          <p:spPr bwMode="auto">
            <a:xfrm>
              <a:off x="2270" y="228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48" name="Rectangle 104"/>
            <p:cNvSpPr>
              <a:spLocks noChangeArrowheads="1"/>
            </p:cNvSpPr>
            <p:nvPr/>
          </p:nvSpPr>
          <p:spPr bwMode="auto">
            <a:xfrm>
              <a:off x="470" y="2410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249" name="Rectangle 105"/>
            <p:cNvSpPr>
              <a:spLocks noChangeArrowheads="1"/>
            </p:cNvSpPr>
            <p:nvPr/>
          </p:nvSpPr>
          <p:spPr bwMode="auto">
            <a:xfrm>
              <a:off x="1047" y="2410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91</a:t>
              </a:r>
            </a:p>
          </p:txBody>
        </p:sp>
        <p:sp>
          <p:nvSpPr>
            <p:cNvPr id="6250" name="Rectangle 106"/>
            <p:cNvSpPr>
              <a:spLocks noChangeArrowheads="1"/>
            </p:cNvSpPr>
            <p:nvPr/>
          </p:nvSpPr>
          <p:spPr bwMode="auto">
            <a:xfrm>
              <a:off x="1670" y="2410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9</a:t>
              </a:r>
              <a:endParaRPr lang="fr-FR" altLang="ar-AE" sz="1000" b="1"/>
            </a:p>
          </p:txBody>
        </p:sp>
        <p:sp>
          <p:nvSpPr>
            <p:cNvPr id="6251" name="Rectangle 107"/>
            <p:cNvSpPr>
              <a:spLocks noChangeArrowheads="1"/>
            </p:cNvSpPr>
            <p:nvPr/>
          </p:nvSpPr>
          <p:spPr bwMode="auto">
            <a:xfrm>
              <a:off x="2270" y="2410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52" name="Rectangle 108"/>
            <p:cNvSpPr>
              <a:spLocks noChangeArrowheads="1"/>
            </p:cNvSpPr>
            <p:nvPr/>
          </p:nvSpPr>
          <p:spPr bwMode="auto">
            <a:xfrm>
              <a:off x="470" y="2537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253" name="Rectangle 109"/>
            <p:cNvSpPr>
              <a:spLocks noChangeArrowheads="1"/>
            </p:cNvSpPr>
            <p:nvPr/>
          </p:nvSpPr>
          <p:spPr bwMode="auto">
            <a:xfrm>
              <a:off x="1047" y="2537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9900CC"/>
                  </a:solidFill>
                </a:rPr>
                <a:t>50</a:t>
              </a:r>
              <a:endParaRPr lang="fr-FR" altLang="ar-AE" sz="1000" b="1"/>
            </a:p>
          </p:txBody>
        </p:sp>
        <p:sp>
          <p:nvSpPr>
            <p:cNvPr id="6254" name="Rectangle 110"/>
            <p:cNvSpPr>
              <a:spLocks noChangeArrowheads="1"/>
            </p:cNvSpPr>
            <p:nvPr/>
          </p:nvSpPr>
          <p:spPr bwMode="auto">
            <a:xfrm>
              <a:off x="1647" y="2537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9900CC"/>
                  </a:solidFill>
                </a:rPr>
                <a:t>50</a:t>
              </a:r>
            </a:p>
          </p:txBody>
        </p:sp>
        <p:sp>
          <p:nvSpPr>
            <p:cNvPr id="6255" name="Rectangle 111"/>
            <p:cNvSpPr>
              <a:spLocks noChangeArrowheads="1"/>
            </p:cNvSpPr>
            <p:nvPr/>
          </p:nvSpPr>
          <p:spPr bwMode="auto">
            <a:xfrm>
              <a:off x="2270" y="2537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56" name="Rectangle 112"/>
            <p:cNvSpPr>
              <a:spLocks noChangeArrowheads="1"/>
            </p:cNvSpPr>
            <p:nvPr/>
          </p:nvSpPr>
          <p:spPr bwMode="auto">
            <a:xfrm>
              <a:off x="470" y="2664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6257" name="Rectangle 113"/>
            <p:cNvSpPr>
              <a:spLocks noChangeArrowheads="1"/>
            </p:cNvSpPr>
            <p:nvPr/>
          </p:nvSpPr>
          <p:spPr bwMode="auto">
            <a:xfrm>
              <a:off x="1070" y="2664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9</a:t>
              </a:r>
              <a:endParaRPr lang="fr-FR" altLang="ar-AE" sz="1000" b="1"/>
            </a:p>
          </p:txBody>
        </p:sp>
        <p:sp>
          <p:nvSpPr>
            <p:cNvPr id="6258" name="Rectangle 114"/>
            <p:cNvSpPr>
              <a:spLocks noChangeArrowheads="1"/>
            </p:cNvSpPr>
            <p:nvPr/>
          </p:nvSpPr>
          <p:spPr bwMode="auto">
            <a:xfrm>
              <a:off x="1647" y="2664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91</a:t>
              </a:r>
              <a:endParaRPr lang="fr-FR" altLang="ar-AE" sz="1000" b="1"/>
            </a:p>
          </p:txBody>
        </p:sp>
        <p:sp>
          <p:nvSpPr>
            <p:cNvPr id="6259" name="Rectangle 115"/>
            <p:cNvSpPr>
              <a:spLocks noChangeArrowheads="1"/>
            </p:cNvSpPr>
            <p:nvPr/>
          </p:nvSpPr>
          <p:spPr bwMode="auto">
            <a:xfrm>
              <a:off x="2270" y="2664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60" name="Rectangle 116"/>
            <p:cNvSpPr>
              <a:spLocks noChangeArrowheads="1"/>
            </p:cNvSpPr>
            <p:nvPr/>
          </p:nvSpPr>
          <p:spPr bwMode="auto">
            <a:xfrm>
              <a:off x="470" y="2791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261" name="Rectangle 117"/>
            <p:cNvSpPr>
              <a:spLocks noChangeArrowheads="1"/>
            </p:cNvSpPr>
            <p:nvPr/>
          </p:nvSpPr>
          <p:spPr bwMode="auto">
            <a:xfrm>
              <a:off x="1070" y="2791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1</a:t>
              </a:r>
              <a:endParaRPr lang="fr-FR" altLang="ar-AE" sz="1000" b="1"/>
            </a:p>
          </p:txBody>
        </p:sp>
        <p:sp>
          <p:nvSpPr>
            <p:cNvPr id="6262" name="Rectangle 118"/>
            <p:cNvSpPr>
              <a:spLocks noChangeArrowheads="1"/>
            </p:cNvSpPr>
            <p:nvPr/>
          </p:nvSpPr>
          <p:spPr bwMode="auto">
            <a:xfrm>
              <a:off x="1647" y="2791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98</a:t>
              </a:r>
              <a:endParaRPr lang="fr-FR" altLang="ar-AE" sz="1000" b="1"/>
            </a:p>
          </p:txBody>
        </p:sp>
        <p:sp>
          <p:nvSpPr>
            <p:cNvPr id="6263" name="Rectangle 119"/>
            <p:cNvSpPr>
              <a:spLocks noChangeArrowheads="1"/>
            </p:cNvSpPr>
            <p:nvPr/>
          </p:nvSpPr>
          <p:spPr bwMode="auto">
            <a:xfrm>
              <a:off x="2270" y="2791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1</a:t>
              </a:r>
              <a:endParaRPr lang="fr-FR" altLang="ar-AE" sz="1000" b="1"/>
            </a:p>
          </p:txBody>
        </p:sp>
        <p:sp>
          <p:nvSpPr>
            <p:cNvPr id="6264" name="Rectangle 120"/>
            <p:cNvSpPr>
              <a:spLocks noChangeArrowheads="1"/>
            </p:cNvSpPr>
            <p:nvPr/>
          </p:nvSpPr>
          <p:spPr bwMode="auto">
            <a:xfrm>
              <a:off x="470" y="2918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265" name="Rectangle 121"/>
            <p:cNvSpPr>
              <a:spLocks noChangeArrowheads="1"/>
            </p:cNvSpPr>
            <p:nvPr/>
          </p:nvSpPr>
          <p:spPr bwMode="auto">
            <a:xfrm>
              <a:off x="1070" y="2918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66" name="Rectangle 122"/>
            <p:cNvSpPr>
              <a:spLocks noChangeArrowheads="1"/>
            </p:cNvSpPr>
            <p:nvPr/>
          </p:nvSpPr>
          <p:spPr bwMode="auto">
            <a:xfrm>
              <a:off x="1647" y="2918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91</a:t>
              </a:r>
              <a:endParaRPr lang="fr-FR" altLang="ar-AE" sz="1000" b="1"/>
            </a:p>
          </p:txBody>
        </p:sp>
        <p:sp>
          <p:nvSpPr>
            <p:cNvPr id="6267" name="Rectangle 123"/>
            <p:cNvSpPr>
              <a:spLocks noChangeArrowheads="1"/>
            </p:cNvSpPr>
            <p:nvPr/>
          </p:nvSpPr>
          <p:spPr bwMode="auto">
            <a:xfrm>
              <a:off x="2270" y="2918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9</a:t>
              </a:r>
              <a:endParaRPr lang="fr-FR" altLang="ar-AE" sz="1000" b="1"/>
            </a:p>
          </p:txBody>
        </p:sp>
        <p:sp>
          <p:nvSpPr>
            <p:cNvPr id="6268" name="Rectangle 124"/>
            <p:cNvSpPr>
              <a:spLocks noChangeArrowheads="1"/>
            </p:cNvSpPr>
            <p:nvPr/>
          </p:nvSpPr>
          <p:spPr bwMode="auto">
            <a:xfrm>
              <a:off x="470" y="3046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6269" name="Rectangle 125"/>
            <p:cNvSpPr>
              <a:spLocks noChangeArrowheads="1"/>
            </p:cNvSpPr>
            <p:nvPr/>
          </p:nvSpPr>
          <p:spPr bwMode="auto">
            <a:xfrm>
              <a:off x="1070" y="3046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70" name="Rectangle 126"/>
            <p:cNvSpPr>
              <a:spLocks noChangeArrowheads="1"/>
            </p:cNvSpPr>
            <p:nvPr/>
          </p:nvSpPr>
          <p:spPr bwMode="auto">
            <a:xfrm>
              <a:off x="1647" y="3046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9900CC"/>
                  </a:solidFill>
                </a:rPr>
                <a:t>50</a:t>
              </a:r>
              <a:endParaRPr lang="fr-FR" altLang="ar-AE" sz="1000" b="1"/>
            </a:p>
          </p:txBody>
        </p:sp>
        <p:sp>
          <p:nvSpPr>
            <p:cNvPr id="6271" name="Rectangle 127"/>
            <p:cNvSpPr>
              <a:spLocks noChangeArrowheads="1"/>
            </p:cNvSpPr>
            <p:nvPr/>
          </p:nvSpPr>
          <p:spPr bwMode="auto">
            <a:xfrm>
              <a:off x="2247" y="3046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9900CC"/>
                  </a:solidFill>
                </a:rPr>
                <a:t>50</a:t>
              </a:r>
              <a:endParaRPr lang="fr-FR" altLang="ar-AE" sz="1000" b="1"/>
            </a:p>
          </p:txBody>
        </p:sp>
        <p:sp>
          <p:nvSpPr>
            <p:cNvPr id="6272" name="Rectangle 128"/>
            <p:cNvSpPr>
              <a:spLocks noChangeArrowheads="1"/>
            </p:cNvSpPr>
            <p:nvPr/>
          </p:nvSpPr>
          <p:spPr bwMode="auto">
            <a:xfrm>
              <a:off x="470" y="317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6273" name="Rectangle 129"/>
            <p:cNvSpPr>
              <a:spLocks noChangeArrowheads="1"/>
            </p:cNvSpPr>
            <p:nvPr/>
          </p:nvSpPr>
          <p:spPr bwMode="auto">
            <a:xfrm>
              <a:off x="1070" y="317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74" name="Rectangle 130"/>
            <p:cNvSpPr>
              <a:spLocks noChangeArrowheads="1"/>
            </p:cNvSpPr>
            <p:nvPr/>
          </p:nvSpPr>
          <p:spPr bwMode="auto">
            <a:xfrm>
              <a:off x="1670" y="3173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9</a:t>
              </a:r>
              <a:endParaRPr lang="fr-FR" altLang="ar-AE" sz="1000" b="1"/>
            </a:p>
          </p:txBody>
        </p:sp>
        <p:sp>
          <p:nvSpPr>
            <p:cNvPr id="6275" name="Rectangle 131"/>
            <p:cNvSpPr>
              <a:spLocks noChangeArrowheads="1"/>
            </p:cNvSpPr>
            <p:nvPr/>
          </p:nvSpPr>
          <p:spPr bwMode="auto">
            <a:xfrm>
              <a:off x="2247" y="3173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91</a:t>
              </a:r>
              <a:endParaRPr lang="fr-FR" altLang="ar-AE" sz="1000" b="1"/>
            </a:p>
          </p:txBody>
        </p:sp>
        <p:sp>
          <p:nvSpPr>
            <p:cNvPr id="6276" name="Rectangle 132"/>
            <p:cNvSpPr>
              <a:spLocks noChangeArrowheads="1"/>
            </p:cNvSpPr>
            <p:nvPr/>
          </p:nvSpPr>
          <p:spPr bwMode="auto">
            <a:xfrm>
              <a:off x="447" y="3300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6277" name="Rectangle 133"/>
            <p:cNvSpPr>
              <a:spLocks noChangeArrowheads="1"/>
            </p:cNvSpPr>
            <p:nvPr/>
          </p:nvSpPr>
          <p:spPr bwMode="auto">
            <a:xfrm>
              <a:off x="1070" y="3300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78" name="Rectangle 134"/>
            <p:cNvSpPr>
              <a:spLocks noChangeArrowheads="1"/>
            </p:cNvSpPr>
            <p:nvPr/>
          </p:nvSpPr>
          <p:spPr bwMode="auto">
            <a:xfrm>
              <a:off x="1670" y="3300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1</a:t>
              </a:r>
              <a:endParaRPr lang="fr-FR" altLang="ar-AE" sz="1000" b="1"/>
            </a:p>
          </p:txBody>
        </p:sp>
        <p:sp>
          <p:nvSpPr>
            <p:cNvPr id="6279" name="Rectangle 135"/>
            <p:cNvSpPr>
              <a:spLocks noChangeArrowheads="1"/>
            </p:cNvSpPr>
            <p:nvPr/>
          </p:nvSpPr>
          <p:spPr bwMode="auto">
            <a:xfrm>
              <a:off x="2247" y="3300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99</a:t>
              </a:r>
              <a:endParaRPr lang="fr-FR" altLang="ar-AE" sz="1000" b="1"/>
            </a:p>
          </p:txBody>
        </p:sp>
        <p:sp>
          <p:nvSpPr>
            <p:cNvPr id="6280" name="Rectangle 136"/>
            <p:cNvSpPr>
              <a:spLocks noChangeArrowheads="1"/>
            </p:cNvSpPr>
            <p:nvPr/>
          </p:nvSpPr>
          <p:spPr bwMode="auto">
            <a:xfrm>
              <a:off x="447" y="3427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11</a:t>
              </a:r>
            </a:p>
          </p:txBody>
        </p:sp>
        <p:sp>
          <p:nvSpPr>
            <p:cNvPr id="6281" name="Rectangle 137"/>
            <p:cNvSpPr>
              <a:spLocks noChangeArrowheads="1"/>
            </p:cNvSpPr>
            <p:nvPr/>
          </p:nvSpPr>
          <p:spPr bwMode="auto">
            <a:xfrm>
              <a:off x="1070" y="3427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82" name="Rectangle 138"/>
            <p:cNvSpPr>
              <a:spLocks noChangeArrowheads="1"/>
            </p:cNvSpPr>
            <p:nvPr/>
          </p:nvSpPr>
          <p:spPr bwMode="auto">
            <a:xfrm>
              <a:off x="1670" y="3427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83" name="Rectangle 139"/>
            <p:cNvSpPr>
              <a:spLocks noChangeArrowheads="1"/>
            </p:cNvSpPr>
            <p:nvPr/>
          </p:nvSpPr>
          <p:spPr bwMode="auto">
            <a:xfrm>
              <a:off x="2217" y="3427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</a:p>
          </p:txBody>
        </p:sp>
        <p:sp>
          <p:nvSpPr>
            <p:cNvPr id="6284" name="Rectangle 140"/>
            <p:cNvSpPr>
              <a:spLocks noChangeArrowheads="1"/>
            </p:cNvSpPr>
            <p:nvPr/>
          </p:nvSpPr>
          <p:spPr bwMode="auto">
            <a:xfrm>
              <a:off x="447" y="3554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12</a:t>
              </a:r>
            </a:p>
          </p:txBody>
        </p:sp>
        <p:sp>
          <p:nvSpPr>
            <p:cNvPr id="6285" name="Rectangle 141"/>
            <p:cNvSpPr>
              <a:spLocks noChangeArrowheads="1"/>
            </p:cNvSpPr>
            <p:nvPr/>
          </p:nvSpPr>
          <p:spPr bwMode="auto">
            <a:xfrm>
              <a:off x="1070" y="3554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86" name="Rectangle 142"/>
            <p:cNvSpPr>
              <a:spLocks noChangeArrowheads="1"/>
            </p:cNvSpPr>
            <p:nvPr/>
          </p:nvSpPr>
          <p:spPr bwMode="auto">
            <a:xfrm>
              <a:off x="1670" y="3554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87" name="Rectangle 143"/>
            <p:cNvSpPr>
              <a:spLocks noChangeArrowheads="1"/>
            </p:cNvSpPr>
            <p:nvPr/>
          </p:nvSpPr>
          <p:spPr bwMode="auto">
            <a:xfrm>
              <a:off x="2217" y="3554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</a:p>
          </p:txBody>
        </p:sp>
        <p:sp>
          <p:nvSpPr>
            <p:cNvPr id="6288" name="Rectangle 144"/>
            <p:cNvSpPr>
              <a:spLocks noChangeArrowheads="1"/>
            </p:cNvSpPr>
            <p:nvPr/>
          </p:nvSpPr>
          <p:spPr bwMode="auto">
            <a:xfrm>
              <a:off x="447" y="3681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13</a:t>
              </a:r>
            </a:p>
          </p:txBody>
        </p:sp>
        <p:sp>
          <p:nvSpPr>
            <p:cNvPr id="6289" name="Rectangle 145"/>
            <p:cNvSpPr>
              <a:spLocks noChangeArrowheads="1"/>
            </p:cNvSpPr>
            <p:nvPr/>
          </p:nvSpPr>
          <p:spPr bwMode="auto">
            <a:xfrm>
              <a:off x="1070" y="3681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90" name="Rectangle 146"/>
            <p:cNvSpPr>
              <a:spLocks noChangeArrowheads="1"/>
            </p:cNvSpPr>
            <p:nvPr/>
          </p:nvSpPr>
          <p:spPr bwMode="auto">
            <a:xfrm>
              <a:off x="1670" y="3681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91" name="Rectangle 147"/>
            <p:cNvSpPr>
              <a:spLocks noChangeArrowheads="1"/>
            </p:cNvSpPr>
            <p:nvPr/>
          </p:nvSpPr>
          <p:spPr bwMode="auto">
            <a:xfrm>
              <a:off x="2217" y="3681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</a:p>
          </p:txBody>
        </p:sp>
        <p:sp>
          <p:nvSpPr>
            <p:cNvPr id="6292" name="Rectangle 148"/>
            <p:cNvSpPr>
              <a:spLocks noChangeArrowheads="1"/>
            </p:cNvSpPr>
            <p:nvPr/>
          </p:nvSpPr>
          <p:spPr bwMode="auto">
            <a:xfrm>
              <a:off x="447" y="3808"/>
              <a:ext cx="9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chemeClr val="accent2"/>
                  </a:solidFill>
                </a:rPr>
                <a:t>14</a:t>
              </a:r>
            </a:p>
          </p:txBody>
        </p:sp>
        <p:sp>
          <p:nvSpPr>
            <p:cNvPr id="6293" name="Rectangle 149"/>
            <p:cNvSpPr>
              <a:spLocks noChangeArrowheads="1"/>
            </p:cNvSpPr>
            <p:nvPr/>
          </p:nvSpPr>
          <p:spPr bwMode="auto">
            <a:xfrm>
              <a:off x="1070" y="3808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94" name="Rectangle 150"/>
            <p:cNvSpPr>
              <a:spLocks noChangeArrowheads="1"/>
            </p:cNvSpPr>
            <p:nvPr/>
          </p:nvSpPr>
          <p:spPr bwMode="auto">
            <a:xfrm>
              <a:off x="1670" y="3808"/>
              <a:ext cx="45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000000"/>
                  </a:solidFill>
                </a:rPr>
                <a:t>0</a:t>
              </a:r>
              <a:endParaRPr lang="fr-FR" altLang="ar-AE" sz="1000" b="1"/>
            </a:p>
          </p:txBody>
        </p:sp>
        <p:sp>
          <p:nvSpPr>
            <p:cNvPr id="6295" name="Rectangle 151"/>
            <p:cNvSpPr>
              <a:spLocks noChangeArrowheads="1"/>
            </p:cNvSpPr>
            <p:nvPr/>
          </p:nvSpPr>
          <p:spPr bwMode="auto">
            <a:xfrm>
              <a:off x="2217" y="3808"/>
              <a:ext cx="1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fr-FR" altLang="ar-AE" sz="1000" b="1">
                  <a:solidFill>
                    <a:srgbClr val="FF0000"/>
                  </a:solidFill>
                </a:rPr>
                <a:t>100</a:t>
              </a:r>
            </a:p>
          </p:txBody>
        </p:sp>
        <p:sp>
          <p:nvSpPr>
            <p:cNvPr id="6296" name="Line 152"/>
            <p:cNvSpPr>
              <a:spLocks noChangeShapeType="1"/>
            </p:cNvSpPr>
            <p:nvPr/>
          </p:nvSpPr>
          <p:spPr bwMode="auto">
            <a:xfrm>
              <a:off x="192" y="1872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97" name="Rectangle 153"/>
            <p:cNvSpPr>
              <a:spLocks noChangeArrowheads="1"/>
            </p:cNvSpPr>
            <p:nvPr/>
          </p:nvSpPr>
          <p:spPr bwMode="auto">
            <a:xfrm>
              <a:off x="192" y="1872"/>
              <a:ext cx="2400" cy="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ar-AE"/>
            </a:p>
          </p:txBody>
        </p:sp>
        <p:sp>
          <p:nvSpPr>
            <p:cNvPr id="6298" name="Line 154"/>
            <p:cNvSpPr>
              <a:spLocks noChangeShapeType="1"/>
            </p:cNvSpPr>
            <p:nvPr/>
          </p:nvSpPr>
          <p:spPr bwMode="auto">
            <a:xfrm>
              <a:off x="192" y="2149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299" name="Rectangle 155"/>
            <p:cNvSpPr>
              <a:spLocks noChangeArrowheads="1"/>
            </p:cNvSpPr>
            <p:nvPr/>
          </p:nvSpPr>
          <p:spPr bwMode="auto">
            <a:xfrm>
              <a:off x="192" y="2149"/>
              <a:ext cx="2400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0" name="Rectangle 156"/>
            <p:cNvSpPr>
              <a:spLocks noChangeArrowheads="1"/>
            </p:cNvSpPr>
            <p:nvPr/>
          </p:nvSpPr>
          <p:spPr bwMode="auto">
            <a:xfrm>
              <a:off x="192" y="2276"/>
              <a:ext cx="2400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1" name="Line 157"/>
            <p:cNvSpPr>
              <a:spLocks noChangeShapeType="1"/>
            </p:cNvSpPr>
            <p:nvPr/>
          </p:nvSpPr>
          <p:spPr bwMode="auto">
            <a:xfrm>
              <a:off x="192" y="2784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2" name="Rectangle 158"/>
            <p:cNvSpPr>
              <a:spLocks noChangeArrowheads="1"/>
            </p:cNvSpPr>
            <p:nvPr/>
          </p:nvSpPr>
          <p:spPr bwMode="auto">
            <a:xfrm>
              <a:off x="192" y="2784"/>
              <a:ext cx="2400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3" name="Line 159"/>
            <p:cNvSpPr>
              <a:spLocks noChangeShapeType="1"/>
            </p:cNvSpPr>
            <p:nvPr/>
          </p:nvSpPr>
          <p:spPr bwMode="auto">
            <a:xfrm>
              <a:off x="192" y="2911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4" name="Rectangle 160"/>
            <p:cNvSpPr>
              <a:spLocks noChangeArrowheads="1"/>
            </p:cNvSpPr>
            <p:nvPr/>
          </p:nvSpPr>
          <p:spPr bwMode="auto">
            <a:xfrm>
              <a:off x="192" y="2911"/>
              <a:ext cx="2400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5" name="Line 161"/>
            <p:cNvSpPr>
              <a:spLocks noChangeShapeType="1"/>
            </p:cNvSpPr>
            <p:nvPr/>
          </p:nvSpPr>
          <p:spPr bwMode="auto">
            <a:xfrm>
              <a:off x="192" y="3165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6" name="Rectangle 162"/>
            <p:cNvSpPr>
              <a:spLocks noChangeArrowheads="1"/>
            </p:cNvSpPr>
            <p:nvPr/>
          </p:nvSpPr>
          <p:spPr bwMode="auto">
            <a:xfrm>
              <a:off x="192" y="3165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7" name="Line 163"/>
            <p:cNvSpPr>
              <a:spLocks noChangeShapeType="1"/>
            </p:cNvSpPr>
            <p:nvPr/>
          </p:nvSpPr>
          <p:spPr bwMode="auto">
            <a:xfrm>
              <a:off x="192" y="3292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8" name="Rectangle 164"/>
            <p:cNvSpPr>
              <a:spLocks noChangeArrowheads="1"/>
            </p:cNvSpPr>
            <p:nvPr/>
          </p:nvSpPr>
          <p:spPr bwMode="auto">
            <a:xfrm>
              <a:off x="192" y="3292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09" name="Line 165"/>
            <p:cNvSpPr>
              <a:spLocks noChangeShapeType="1"/>
            </p:cNvSpPr>
            <p:nvPr/>
          </p:nvSpPr>
          <p:spPr bwMode="auto">
            <a:xfrm>
              <a:off x="192" y="3419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0" name="Rectangle 166"/>
            <p:cNvSpPr>
              <a:spLocks noChangeArrowheads="1"/>
            </p:cNvSpPr>
            <p:nvPr/>
          </p:nvSpPr>
          <p:spPr bwMode="auto">
            <a:xfrm>
              <a:off x="192" y="3419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1" name="Line 167"/>
            <p:cNvSpPr>
              <a:spLocks noChangeShapeType="1"/>
            </p:cNvSpPr>
            <p:nvPr/>
          </p:nvSpPr>
          <p:spPr bwMode="auto">
            <a:xfrm>
              <a:off x="192" y="3546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2" name="Rectangle 168"/>
            <p:cNvSpPr>
              <a:spLocks noChangeArrowheads="1"/>
            </p:cNvSpPr>
            <p:nvPr/>
          </p:nvSpPr>
          <p:spPr bwMode="auto">
            <a:xfrm>
              <a:off x="192" y="3546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3" name="Line 169"/>
            <p:cNvSpPr>
              <a:spLocks noChangeShapeType="1"/>
            </p:cNvSpPr>
            <p:nvPr/>
          </p:nvSpPr>
          <p:spPr bwMode="auto">
            <a:xfrm>
              <a:off x="192" y="3673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4" name="Rectangle 170"/>
            <p:cNvSpPr>
              <a:spLocks noChangeArrowheads="1"/>
            </p:cNvSpPr>
            <p:nvPr/>
          </p:nvSpPr>
          <p:spPr bwMode="auto">
            <a:xfrm>
              <a:off x="192" y="3673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5" name="Line 171"/>
            <p:cNvSpPr>
              <a:spLocks noChangeShapeType="1"/>
            </p:cNvSpPr>
            <p:nvPr/>
          </p:nvSpPr>
          <p:spPr bwMode="auto">
            <a:xfrm>
              <a:off x="192" y="3800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6" name="Rectangle 172"/>
            <p:cNvSpPr>
              <a:spLocks noChangeArrowheads="1"/>
            </p:cNvSpPr>
            <p:nvPr/>
          </p:nvSpPr>
          <p:spPr bwMode="auto">
            <a:xfrm>
              <a:off x="192" y="3800"/>
              <a:ext cx="2400" cy="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7" name="Line 173"/>
            <p:cNvSpPr>
              <a:spLocks noChangeShapeType="1"/>
            </p:cNvSpPr>
            <p:nvPr/>
          </p:nvSpPr>
          <p:spPr bwMode="auto">
            <a:xfrm>
              <a:off x="192" y="3928"/>
              <a:ext cx="2400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8" name="Rectangle 174"/>
            <p:cNvSpPr>
              <a:spLocks noChangeArrowheads="1"/>
            </p:cNvSpPr>
            <p:nvPr/>
          </p:nvSpPr>
          <p:spPr bwMode="auto">
            <a:xfrm>
              <a:off x="192" y="3928"/>
              <a:ext cx="2400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19" name="Line 175"/>
            <p:cNvSpPr>
              <a:spLocks noChangeShapeType="1"/>
            </p:cNvSpPr>
            <p:nvPr/>
          </p:nvSpPr>
          <p:spPr bwMode="auto">
            <a:xfrm>
              <a:off x="192" y="1872"/>
              <a:ext cx="1" cy="2056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0" name="Rectangle 176"/>
            <p:cNvSpPr>
              <a:spLocks noChangeArrowheads="1"/>
            </p:cNvSpPr>
            <p:nvPr/>
          </p:nvSpPr>
          <p:spPr bwMode="auto">
            <a:xfrm>
              <a:off x="192" y="1872"/>
              <a:ext cx="8" cy="205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1" name="Line 177"/>
            <p:cNvSpPr>
              <a:spLocks noChangeShapeType="1"/>
            </p:cNvSpPr>
            <p:nvPr/>
          </p:nvSpPr>
          <p:spPr bwMode="auto">
            <a:xfrm>
              <a:off x="792" y="1872"/>
              <a:ext cx="1" cy="2056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2" name="Rectangle 178"/>
            <p:cNvSpPr>
              <a:spLocks noChangeArrowheads="1"/>
            </p:cNvSpPr>
            <p:nvPr/>
          </p:nvSpPr>
          <p:spPr bwMode="auto">
            <a:xfrm>
              <a:off x="792" y="1872"/>
              <a:ext cx="8" cy="205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3" name="Line 179"/>
            <p:cNvSpPr>
              <a:spLocks noChangeShapeType="1"/>
            </p:cNvSpPr>
            <p:nvPr/>
          </p:nvSpPr>
          <p:spPr bwMode="auto">
            <a:xfrm>
              <a:off x="1392" y="1872"/>
              <a:ext cx="1" cy="2056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4" name="Rectangle 180"/>
            <p:cNvSpPr>
              <a:spLocks noChangeArrowheads="1"/>
            </p:cNvSpPr>
            <p:nvPr/>
          </p:nvSpPr>
          <p:spPr bwMode="auto">
            <a:xfrm>
              <a:off x="1392" y="1872"/>
              <a:ext cx="8" cy="205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5" name="Line 181"/>
            <p:cNvSpPr>
              <a:spLocks noChangeShapeType="1"/>
            </p:cNvSpPr>
            <p:nvPr/>
          </p:nvSpPr>
          <p:spPr bwMode="auto">
            <a:xfrm>
              <a:off x="1992" y="1872"/>
              <a:ext cx="1" cy="2056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6" name="Rectangle 182"/>
            <p:cNvSpPr>
              <a:spLocks noChangeArrowheads="1"/>
            </p:cNvSpPr>
            <p:nvPr/>
          </p:nvSpPr>
          <p:spPr bwMode="auto">
            <a:xfrm>
              <a:off x="1992" y="1872"/>
              <a:ext cx="8" cy="205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7" name="Line 183"/>
            <p:cNvSpPr>
              <a:spLocks noChangeShapeType="1"/>
            </p:cNvSpPr>
            <p:nvPr/>
          </p:nvSpPr>
          <p:spPr bwMode="auto">
            <a:xfrm>
              <a:off x="2592" y="1872"/>
              <a:ext cx="1" cy="2056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8" name="Rectangle 184"/>
            <p:cNvSpPr>
              <a:spLocks noChangeArrowheads="1"/>
            </p:cNvSpPr>
            <p:nvPr/>
          </p:nvSpPr>
          <p:spPr bwMode="auto">
            <a:xfrm>
              <a:off x="2592" y="1872"/>
              <a:ext cx="8" cy="205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ar-AE"/>
            </a:p>
          </p:txBody>
        </p:sp>
        <p:sp>
          <p:nvSpPr>
            <p:cNvPr id="6329" name="Line 185"/>
            <p:cNvSpPr>
              <a:spLocks noChangeShapeType="1"/>
            </p:cNvSpPr>
            <p:nvPr/>
          </p:nvSpPr>
          <p:spPr bwMode="auto">
            <a:xfrm>
              <a:off x="192" y="201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ar-AE"/>
            </a:p>
          </p:txBody>
        </p:sp>
      </p:grpSp>
    </p:spTree>
    <p:extLst>
      <p:ext uri="{BB962C8B-B14F-4D97-AF65-F5344CB8AC3E}">
        <p14:creationId xmlns:p14="http://schemas.microsoft.com/office/powerpoint/2010/main" val="3335131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rissement de fre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6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6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2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6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6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6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62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6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PHOT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4" grpId="0" build="p" autoUpdateAnimBg="0"/>
      <p:bldP spid="6205" grpId="0" build="p" autoUpdateAnimBg="0"/>
      <p:bldP spid="6206" grpId="0" build="p" autoUpdateAnimBg="0"/>
      <p:bldP spid="6207" grpId="0" build="p" autoUpdateAnimBg="0"/>
      <p:bldP spid="6208" grpId="0" build="p" autoUpdateAnimBg="0"/>
      <p:bldP spid="6209" grpId="0" build="p" autoUpdateAnimBg="0"/>
      <p:bldP spid="6210" grpId="0" build="p" autoUpdateAnimBg="0"/>
      <p:bldP spid="6211" grpId="0" animBg="1" autoUpdateAnimBg="0"/>
      <p:bldP spid="6212" grpId="0" animBg="1" autoUpdateAnimBg="0"/>
      <p:bldP spid="6213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41" y="2630669"/>
            <a:ext cx="11954359" cy="251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9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9" y="2677886"/>
            <a:ext cx="11409765" cy="356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24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51314"/>
            <a:ext cx="10216354" cy="4047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63932" y="1254034"/>
            <a:ext cx="3951723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sz="3600" b="1" i="1" dirty="0">
                <a:solidFill>
                  <a:schemeClr val="bg1"/>
                </a:solidFill>
                <a:cs typeface="+mj-cs"/>
              </a:rPr>
              <a:t>PH d’ampholytes</a:t>
            </a:r>
            <a:endParaRPr lang="ar-AE" sz="3600" b="1" i="1" dirty="0">
              <a:solidFill>
                <a:schemeClr val="bg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148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992777"/>
            <a:ext cx="3413114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altLang="ar-AE" sz="3200" b="1" dirty="0">
                <a:solidFill>
                  <a:schemeClr val="bg1"/>
                </a:solidFill>
              </a:rPr>
              <a:t>Solution tampon</a:t>
            </a:r>
          </a:p>
          <a:p>
            <a:endParaRPr lang="ar-AE" sz="3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39" y="2455818"/>
            <a:ext cx="11643361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altLang="ar-AE" sz="2000" b="1" dirty="0">
                <a:cs typeface="+mj-cs"/>
              </a:rPr>
              <a:t>Une solution tampon est composée soit d’un acide faible AH et de sa base conjuguée </a:t>
            </a:r>
            <a:r>
              <a:rPr lang="fr-FR" altLang="ar-AE" sz="2000" b="1" dirty="0" smtClean="0">
                <a:cs typeface="+mj-cs"/>
              </a:rPr>
              <a:t>A</a:t>
            </a:r>
            <a:r>
              <a:rPr lang="fr-FR" altLang="ar-AE" sz="2000" b="1" baseline="30000" dirty="0" smtClean="0">
                <a:cs typeface="+mj-cs"/>
              </a:rPr>
              <a:t>-</a:t>
            </a:r>
            <a:r>
              <a:rPr lang="fr-FR" altLang="ar-AE" sz="2000" b="1" dirty="0" smtClean="0">
                <a:cs typeface="+mj-cs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fr-FR" altLang="ar-AE" sz="2000" b="1" dirty="0" smtClean="0">
                <a:cs typeface="+mj-cs"/>
              </a:rPr>
              <a:t>soit </a:t>
            </a:r>
            <a:r>
              <a:rPr lang="fr-FR" altLang="ar-AE" sz="2000" b="1" dirty="0">
                <a:cs typeface="+mj-cs"/>
              </a:rPr>
              <a:t>d’une base BOH et de son cation B</a:t>
            </a:r>
            <a:r>
              <a:rPr lang="fr-FR" altLang="ar-AE" sz="2000" b="1" baseline="30000" dirty="0">
                <a:cs typeface="+mj-cs"/>
              </a:rPr>
              <a:t>+</a:t>
            </a:r>
            <a:r>
              <a:rPr lang="fr-FR" altLang="ar-AE" sz="2000" b="1" dirty="0">
                <a:cs typeface="+mj-cs"/>
              </a:rPr>
              <a:t>. une solution tampon est une solution qui maintient </a:t>
            </a:r>
            <a:endParaRPr lang="fr-FR" altLang="ar-AE" sz="2000" b="1" dirty="0" smtClean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altLang="ar-AE" sz="2000" b="1" dirty="0" smtClean="0">
                <a:cs typeface="+mj-cs"/>
              </a:rPr>
              <a:t>approximativement </a:t>
            </a:r>
            <a:r>
              <a:rPr lang="fr-FR" altLang="ar-AE" sz="2000" b="1" dirty="0">
                <a:cs typeface="+mj-cs"/>
              </a:rPr>
              <a:t>le même pH malgré l'addition de petites quantités d'un acide ou d'une base, </a:t>
            </a:r>
            <a:r>
              <a:rPr lang="fr-FR" altLang="ar-AE" sz="2000" b="1" dirty="0" smtClean="0">
                <a:cs typeface="+mj-cs"/>
              </a:rPr>
              <a:t>ou </a:t>
            </a:r>
            <a:r>
              <a:rPr lang="fr-FR" altLang="ar-AE" sz="2000" b="1" dirty="0">
                <a:cs typeface="+mj-cs"/>
              </a:rPr>
              <a:t>malgré une dilution. </a:t>
            </a:r>
          </a:p>
          <a:p>
            <a:pPr>
              <a:lnSpc>
                <a:spcPct val="150000"/>
              </a:lnSpc>
            </a:pPr>
            <a:r>
              <a:rPr lang="fr-FR" altLang="ar-AE" sz="2000" b="1" dirty="0">
                <a:cs typeface="+mj-cs"/>
              </a:rPr>
              <a:t>Le pH d’une solution tampon est</a:t>
            </a:r>
            <a:r>
              <a:rPr lang="fr-FR" altLang="ar-AE" sz="2000" b="1" dirty="0" smtClean="0">
                <a:cs typeface="+mj-cs"/>
              </a:rPr>
              <a:t>: </a:t>
            </a:r>
          </a:p>
          <a:p>
            <a:pPr>
              <a:lnSpc>
                <a:spcPct val="150000"/>
              </a:lnSpc>
            </a:pPr>
            <a:endParaRPr lang="fr-FR" altLang="ar-AE" sz="2000" b="1" dirty="0" smtClean="0">
              <a:cs typeface="+mj-cs"/>
            </a:endParaRPr>
          </a:p>
          <a:p>
            <a:pPr>
              <a:lnSpc>
                <a:spcPct val="150000"/>
              </a:lnSpc>
            </a:pPr>
            <a:r>
              <a:rPr lang="fr-FR" altLang="ar-AE" sz="2000" b="1" dirty="0">
                <a:cs typeface="+mj-cs"/>
              </a:rPr>
              <a:t>	</a:t>
            </a:r>
            <a:r>
              <a:rPr lang="fr-FR" altLang="ar-AE" sz="2000" b="1" dirty="0" smtClean="0">
                <a:cs typeface="+mj-cs"/>
              </a:rPr>
              <a:t>		     </a:t>
            </a:r>
            <a:r>
              <a:rPr lang="fr-FR" altLang="ar-AE" sz="2800" b="1" dirty="0" smtClean="0">
                <a:solidFill>
                  <a:srgbClr val="00B050"/>
                </a:solidFill>
              </a:rPr>
              <a:t>pH </a:t>
            </a:r>
            <a:r>
              <a:rPr lang="fr-FR" altLang="ar-AE" sz="2800" b="1" dirty="0">
                <a:solidFill>
                  <a:srgbClr val="00B050"/>
                </a:solidFill>
              </a:rPr>
              <a:t>= </a:t>
            </a:r>
            <a:r>
              <a:rPr lang="fr-FR" altLang="ar-AE" sz="2800" b="1" dirty="0" err="1">
                <a:solidFill>
                  <a:srgbClr val="00B050"/>
                </a:solidFill>
              </a:rPr>
              <a:t>pKa</a:t>
            </a:r>
            <a:r>
              <a:rPr lang="fr-FR" altLang="ar-AE" sz="2800" b="1" dirty="0">
                <a:solidFill>
                  <a:srgbClr val="00B050"/>
                </a:solidFill>
              </a:rPr>
              <a:t> + log [BASE]/ [ACIDE]</a:t>
            </a:r>
          </a:p>
          <a:p>
            <a:pPr>
              <a:lnSpc>
                <a:spcPct val="150000"/>
              </a:lnSpc>
            </a:pPr>
            <a:endParaRPr lang="fr-FR" altLang="ar-AE" sz="2000" b="1" dirty="0">
              <a:cs typeface="+mj-cs"/>
            </a:endParaRPr>
          </a:p>
          <a:p>
            <a:endParaRPr lang="ar-AE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8207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02" y="2207623"/>
            <a:ext cx="11355128" cy="37621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992777"/>
            <a:ext cx="3413114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altLang="ar-AE" sz="3200" b="1" dirty="0">
                <a:solidFill>
                  <a:schemeClr val="bg1"/>
                </a:solidFill>
              </a:rPr>
              <a:t>Solution tampon</a:t>
            </a:r>
          </a:p>
          <a:p>
            <a:endParaRPr lang="ar-AE" sz="32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2" y="5969726"/>
            <a:ext cx="945832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9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992777"/>
            <a:ext cx="3413114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altLang="ar-AE" sz="3200" b="1" dirty="0">
                <a:solidFill>
                  <a:schemeClr val="bg1"/>
                </a:solidFill>
              </a:rPr>
              <a:t>Solution tampon</a:t>
            </a:r>
          </a:p>
          <a:p>
            <a:endParaRPr lang="ar-AE" sz="32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2" y="1965492"/>
            <a:ext cx="11905951" cy="42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0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992777"/>
            <a:ext cx="3413114" cy="107721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r-FR" altLang="ar-AE" sz="3200" b="1" dirty="0">
                <a:solidFill>
                  <a:schemeClr val="bg1"/>
                </a:solidFill>
              </a:rPr>
              <a:t>Solution tampon</a:t>
            </a:r>
          </a:p>
          <a:p>
            <a:endParaRPr lang="ar-AE" sz="32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042" y="1907449"/>
            <a:ext cx="943927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6052</TotalTime>
  <Words>2214</Words>
  <Application>Microsoft Office PowerPoint</Application>
  <PresentationFormat>Widescreen</PresentationFormat>
  <Paragraphs>370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</vt:lpstr>
      <vt:lpstr>Calibri</vt:lpstr>
      <vt:lpstr>Century Gothic</vt:lpstr>
      <vt:lpstr>Times New Roman</vt:lpstr>
      <vt:lpstr>Wingdings 3</vt:lpstr>
      <vt:lpstr>Ion Boardroom</vt:lpstr>
      <vt:lpstr>Acides et Bases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Equilibre acido-basique : </vt:lpstr>
      <vt:lpstr>Acides et Bases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Equilibre acido-basique : </vt:lpstr>
      <vt:lpstr>Equilibre acido-basique : </vt:lpstr>
      <vt:lpstr>Equilibre acido-basique : </vt:lpstr>
      <vt:lpstr>Diagramme de prédominance des espèces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Mélange d’un acide fort et une base forte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 des Polyacides et Polybases</vt:lpstr>
      <vt:lpstr>pH des Polyacides et Polybases</vt:lpstr>
      <vt:lpstr>pH des Polyacides et Polybases</vt:lpstr>
      <vt:lpstr>pH des Polyacides et Polybases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Acides et Bases</dc:title>
  <dc:creator>franck d</dc:creator>
  <cp:lastModifiedBy>fay</cp:lastModifiedBy>
  <cp:revision>106</cp:revision>
  <dcterms:created xsi:type="dcterms:W3CDTF">2019-10-19T10:52:07Z</dcterms:created>
  <dcterms:modified xsi:type="dcterms:W3CDTF">2024-11-10T08:30:21Z</dcterms:modified>
</cp:coreProperties>
</file>